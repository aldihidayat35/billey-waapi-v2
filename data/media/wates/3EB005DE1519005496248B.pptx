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League Spartan" charset="1" panose="00000800000000000000"/>
      <p:regular r:id="rId23"/>
    </p:embeddedFont>
    <p:embeddedFont>
      <p:font typeface="Helvetica World" charset="1" panose="020B0500040000020004"/>
      <p:regular r:id="rId24"/>
    </p:embeddedFont>
    <p:embeddedFont>
      <p:font typeface="Source Sans Pro" charset="1" panose="020B0503030403020204"/>
      <p:regular r:id="rId25"/>
    </p:embeddedFont>
    <p:embeddedFont>
      <p:font typeface="Source Sans Pro Bold" charset="1" panose="020B0703030403020204"/>
      <p:regular r:id="rId26"/>
    </p:embeddedFont>
    <p:embeddedFont>
      <p:font typeface="Helvetica World Bold" charset="1" panose="020B0800040000020004"/>
      <p:regular r:id="rId27"/>
    </p:embeddedFont>
    <p:embeddedFont>
      <p:font typeface="Archivo Black" charset="1" panose="020B0A03020202020B04"/>
      <p:regular r:id="rId28"/>
    </p:embeddedFont>
    <p:embeddedFont>
      <p:font typeface="Source Sans Pro Italics" charset="1" panose="020B050303040309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jpe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jpe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25.jpe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27.jpeg" Type="http://schemas.openxmlformats.org/officeDocument/2006/relationships/image"/><Relationship Id="rId4" Target="../media/image28.jpe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27.jpeg" Type="http://schemas.openxmlformats.org/officeDocument/2006/relationships/image"/><Relationship Id="rId4" Target="../media/image31.jpeg" Type="http://schemas.openxmlformats.org/officeDocument/2006/relationships/image"/><Relationship Id="rId5" Target="../media/image28.jpe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330060" y="639487"/>
            <a:ext cx="13306533" cy="9008027"/>
            <a:chOff x="0" y="0"/>
            <a:chExt cx="3504601" cy="2372484"/>
          </a:xfrm>
        </p:grpSpPr>
        <p:sp>
          <p:nvSpPr>
            <p:cNvPr name="Freeform 4" id="4"/>
            <p:cNvSpPr/>
            <p:nvPr/>
          </p:nvSpPr>
          <p:spPr>
            <a:xfrm flipH="false" flipV="false" rot="0">
              <a:off x="0" y="0"/>
              <a:ext cx="3504601" cy="2372484"/>
            </a:xfrm>
            <a:custGeom>
              <a:avLst/>
              <a:gdLst/>
              <a:ahLst/>
              <a:cxnLst/>
              <a:rect r="r" b="b" t="t" l="l"/>
              <a:pathLst>
                <a:path h="2372484" w="3504601">
                  <a:moveTo>
                    <a:pt x="29672" y="0"/>
                  </a:moveTo>
                  <a:lnTo>
                    <a:pt x="3474929" y="0"/>
                  </a:lnTo>
                  <a:cubicBezTo>
                    <a:pt x="3482798" y="0"/>
                    <a:pt x="3490345" y="3126"/>
                    <a:pt x="3495910" y="8691"/>
                  </a:cubicBezTo>
                  <a:cubicBezTo>
                    <a:pt x="3501475" y="14256"/>
                    <a:pt x="3504601" y="21803"/>
                    <a:pt x="3504601" y="29672"/>
                  </a:cubicBezTo>
                  <a:lnTo>
                    <a:pt x="3504601" y="2342812"/>
                  </a:lnTo>
                  <a:cubicBezTo>
                    <a:pt x="3504601" y="2350682"/>
                    <a:pt x="3501475" y="2358229"/>
                    <a:pt x="3495910" y="2363794"/>
                  </a:cubicBezTo>
                  <a:cubicBezTo>
                    <a:pt x="3490345" y="2369358"/>
                    <a:pt x="3482798" y="2372484"/>
                    <a:pt x="3474929" y="2372484"/>
                  </a:cubicBezTo>
                  <a:lnTo>
                    <a:pt x="29672" y="2372484"/>
                  </a:lnTo>
                  <a:cubicBezTo>
                    <a:pt x="21803" y="2372484"/>
                    <a:pt x="14256" y="2369358"/>
                    <a:pt x="8691" y="2363794"/>
                  </a:cubicBezTo>
                  <a:cubicBezTo>
                    <a:pt x="3126" y="2358229"/>
                    <a:pt x="0" y="2350682"/>
                    <a:pt x="0" y="2342812"/>
                  </a:cubicBezTo>
                  <a:lnTo>
                    <a:pt x="0" y="29672"/>
                  </a:lnTo>
                  <a:cubicBezTo>
                    <a:pt x="0" y="21803"/>
                    <a:pt x="3126" y="14256"/>
                    <a:pt x="8691" y="8691"/>
                  </a:cubicBezTo>
                  <a:cubicBezTo>
                    <a:pt x="14256" y="3126"/>
                    <a:pt x="21803" y="0"/>
                    <a:pt x="29672" y="0"/>
                  </a:cubicBezTo>
                  <a:close/>
                </a:path>
              </a:pathLst>
            </a:custGeom>
            <a:solidFill>
              <a:srgbClr val="101D56"/>
            </a:solidFill>
          </p:spPr>
        </p:sp>
        <p:sp>
          <p:nvSpPr>
            <p:cNvPr name="TextBox 5" id="5"/>
            <p:cNvSpPr txBox="true"/>
            <p:nvPr/>
          </p:nvSpPr>
          <p:spPr>
            <a:xfrm>
              <a:off x="0" y="-47625"/>
              <a:ext cx="3504601" cy="2420109"/>
            </a:xfrm>
            <a:prstGeom prst="rect">
              <a:avLst/>
            </a:prstGeom>
          </p:spPr>
          <p:txBody>
            <a:bodyPr anchor="ctr" rtlCol="false" tIns="50800" lIns="50800" bIns="50800" rIns="50800"/>
            <a:lstStyle/>
            <a:p>
              <a:pPr algn="ctr">
                <a:lnSpc>
                  <a:spcPts val="3639"/>
                </a:lnSpc>
              </a:pPr>
            </a:p>
          </p:txBody>
        </p:sp>
      </p:grpSp>
      <p:grpSp>
        <p:nvGrpSpPr>
          <p:cNvPr name="Group 6" id="6"/>
          <p:cNvGrpSpPr/>
          <p:nvPr/>
        </p:nvGrpSpPr>
        <p:grpSpPr>
          <a:xfrm rot="0">
            <a:off x="11367017" y="841592"/>
            <a:ext cx="6227403" cy="8229600"/>
            <a:chOff x="0" y="0"/>
            <a:chExt cx="964788" cy="1274980"/>
          </a:xfrm>
        </p:grpSpPr>
        <p:sp>
          <p:nvSpPr>
            <p:cNvPr name="Freeform 7" id="7"/>
            <p:cNvSpPr/>
            <p:nvPr/>
          </p:nvSpPr>
          <p:spPr>
            <a:xfrm flipH="false" flipV="false" rot="0">
              <a:off x="0" y="0"/>
              <a:ext cx="964788" cy="1274980"/>
            </a:xfrm>
            <a:custGeom>
              <a:avLst/>
              <a:gdLst/>
              <a:ahLst/>
              <a:cxnLst/>
              <a:rect r="r" b="b" t="t" l="l"/>
              <a:pathLst>
                <a:path h="1274980" w="964788">
                  <a:moveTo>
                    <a:pt x="28594" y="0"/>
                  </a:moveTo>
                  <a:lnTo>
                    <a:pt x="936194" y="0"/>
                  </a:lnTo>
                  <a:cubicBezTo>
                    <a:pt x="943778" y="0"/>
                    <a:pt x="951050" y="3013"/>
                    <a:pt x="956413" y="8375"/>
                  </a:cubicBezTo>
                  <a:cubicBezTo>
                    <a:pt x="961775" y="13737"/>
                    <a:pt x="964788" y="21010"/>
                    <a:pt x="964788" y="28594"/>
                  </a:cubicBezTo>
                  <a:lnTo>
                    <a:pt x="964788" y="1246387"/>
                  </a:lnTo>
                  <a:cubicBezTo>
                    <a:pt x="964788" y="1253970"/>
                    <a:pt x="961775" y="1261243"/>
                    <a:pt x="956413" y="1266606"/>
                  </a:cubicBezTo>
                  <a:cubicBezTo>
                    <a:pt x="951050" y="1271968"/>
                    <a:pt x="943778" y="1274980"/>
                    <a:pt x="936194" y="1274980"/>
                  </a:cubicBezTo>
                  <a:lnTo>
                    <a:pt x="28594" y="1274980"/>
                  </a:lnTo>
                  <a:cubicBezTo>
                    <a:pt x="21010" y="1274980"/>
                    <a:pt x="13737" y="1271968"/>
                    <a:pt x="8375" y="1266606"/>
                  </a:cubicBezTo>
                  <a:cubicBezTo>
                    <a:pt x="3013" y="1261243"/>
                    <a:pt x="0" y="1253970"/>
                    <a:pt x="0" y="1246387"/>
                  </a:cubicBezTo>
                  <a:lnTo>
                    <a:pt x="0" y="28594"/>
                  </a:lnTo>
                  <a:cubicBezTo>
                    <a:pt x="0" y="21010"/>
                    <a:pt x="3013" y="13737"/>
                    <a:pt x="8375" y="8375"/>
                  </a:cubicBezTo>
                  <a:cubicBezTo>
                    <a:pt x="13737" y="3013"/>
                    <a:pt x="21010" y="0"/>
                    <a:pt x="28594" y="0"/>
                  </a:cubicBezTo>
                  <a:close/>
                </a:path>
              </a:pathLst>
            </a:custGeom>
            <a:blipFill>
              <a:blip r:embed="rId3"/>
              <a:stretch>
                <a:fillRect l="-45932" t="0" r="-88983" b="0"/>
              </a:stretch>
            </a:blipFill>
          </p:spPr>
        </p:sp>
      </p:grpSp>
      <p:sp>
        <p:nvSpPr>
          <p:cNvPr name="Freeform 8" id="8"/>
          <p:cNvSpPr/>
          <p:nvPr/>
        </p:nvSpPr>
        <p:spPr>
          <a:xfrm flipH="true" flipV="false" rot="0">
            <a:off x="8181361" y="1400985"/>
            <a:ext cx="2156956" cy="1027496"/>
          </a:xfrm>
          <a:custGeom>
            <a:avLst/>
            <a:gdLst/>
            <a:ahLst/>
            <a:cxnLst/>
            <a:rect r="r" b="b" t="t" l="l"/>
            <a:pathLst>
              <a:path h="1027496" w="2156956">
                <a:moveTo>
                  <a:pt x="2156956" y="0"/>
                </a:moveTo>
                <a:lnTo>
                  <a:pt x="0" y="0"/>
                </a:lnTo>
                <a:lnTo>
                  <a:pt x="0" y="1027495"/>
                </a:lnTo>
                <a:lnTo>
                  <a:pt x="2156956" y="1027495"/>
                </a:lnTo>
                <a:lnTo>
                  <a:pt x="2156956"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366188" y="841592"/>
            <a:ext cx="944974" cy="94497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0" r="0" b="0"/>
              </a:stretch>
            </a:blipFill>
          </p:spPr>
        </p:sp>
      </p:grpSp>
      <p:sp>
        <p:nvSpPr>
          <p:cNvPr name="TextBox 11" id="11"/>
          <p:cNvSpPr txBox="true"/>
          <p:nvPr/>
        </p:nvSpPr>
        <p:spPr>
          <a:xfrm rot="0">
            <a:off x="838675" y="4047405"/>
            <a:ext cx="10338869" cy="3191786"/>
          </a:xfrm>
          <a:prstGeom prst="rect">
            <a:avLst/>
          </a:prstGeom>
        </p:spPr>
        <p:txBody>
          <a:bodyPr anchor="t" rtlCol="false" tIns="0" lIns="0" bIns="0" rIns="0">
            <a:spAutoFit/>
          </a:bodyPr>
          <a:lstStyle/>
          <a:p>
            <a:pPr algn="ctr">
              <a:lnSpc>
                <a:spcPts val="5063"/>
              </a:lnSpc>
            </a:pPr>
            <a:r>
              <a:rPr lang="en-US" sz="4254">
                <a:solidFill>
                  <a:srgbClr val="FFFFFF"/>
                </a:solidFill>
                <a:latin typeface="League Spartan"/>
                <a:ea typeface="League Spartan"/>
                <a:cs typeface="League Spartan"/>
                <a:sym typeface="League Spartan"/>
              </a:rPr>
              <a:t>STRATEGI GURU PAI DALAM PEMBINAAN POLA INTERAKSI SOSIAL SISWA DI SDN 02 SIALANG, KECAMATAN KAPUR IX, KABUPATEN LIMA PULUH KOTA </a:t>
            </a:r>
          </a:p>
        </p:txBody>
      </p:sp>
      <p:sp>
        <p:nvSpPr>
          <p:cNvPr name="TextBox 12" id="12"/>
          <p:cNvSpPr txBox="true"/>
          <p:nvPr/>
        </p:nvSpPr>
        <p:spPr>
          <a:xfrm rot="0">
            <a:off x="3002655" y="2795648"/>
            <a:ext cx="6641103" cy="785032"/>
          </a:xfrm>
          <a:prstGeom prst="rect">
            <a:avLst/>
          </a:prstGeom>
        </p:spPr>
        <p:txBody>
          <a:bodyPr anchor="t" rtlCol="false" tIns="0" lIns="0" bIns="0" rIns="0">
            <a:spAutoFit/>
          </a:bodyPr>
          <a:lstStyle/>
          <a:p>
            <a:pPr algn="ctr">
              <a:lnSpc>
                <a:spcPts val="6386"/>
              </a:lnSpc>
            </a:pPr>
            <a:r>
              <a:rPr lang="en-US" sz="4561">
                <a:solidFill>
                  <a:srgbClr val="FFFFFF"/>
                </a:solidFill>
                <a:latin typeface="Helvetica World"/>
                <a:ea typeface="Helvetica World"/>
                <a:cs typeface="Helvetica World"/>
                <a:sym typeface="Helvetica World"/>
              </a:rPr>
              <a:t>SEMINAR PROPOSAL</a:t>
            </a:r>
          </a:p>
        </p:txBody>
      </p:sp>
      <p:sp>
        <p:nvSpPr>
          <p:cNvPr name="TextBox 13" id="13"/>
          <p:cNvSpPr txBox="true"/>
          <p:nvPr/>
        </p:nvSpPr>
        <p:spPr>
          <a:xfrm rot="0">
            <a:off x="1028700" y="8025355"/>
            <a:ext cx="3008413" cy="577922"/>
          </a:xfrm>
          <a:prstGeom prst="rect">
            <a:avLst/>
          </a:prstGeom>
        </p:spPr>
        <p:txBody>
          <a:bodyPr anchor="t" rtlCol="false" tIns="0" lIns="0" bIns="0" rIns="0">
            <a:spAutoFit/>
          </a:bodyPr>
          <a:lstStyle/>
          <a:p>
            <a:pPr algn="l">
              <a:lnSpc>
                <a:spcPts val="4885"/>
              </a:lnSpc>
            </a:pPr>
            <a:r>
              <a:rPr lang="en-US" sz="3489">
                <a:solidFill>
                  <a:srgbClr val="FFFFFF"/>
                </a:solidFill>
                <a:latin typeface="Source Sans Pro"/>
                <a:ea typeface="Source Sans Pro"/>
                <a:cs typeface="Source Sans Pro"/>
                <a:sym typeface="Source Sans Pro"/>
              </a:rPr>
              <a:t>LAILA NISWAH</a:t>
            </a:r>
          </a:p>
        </p:txBody>
      </p:sp>
      <p:sp>
        <p:nvSpPr>
          <p:cNvPr name="TextBox 14" id="14"/>
          <p:cNvSpPr txBox="true"/>
          <p:nvPr/>
        </p:nvSpPr>
        <p:spPr>
          <a:xfrm rot="0">
            <a:off x="5563394" y="7954045"/>
            <a:ext cx="3391057" cy="545229"/>
          </a:xfrm>
          <a:prstGeom prst="rect">
            <a:avLst/>
          </a:prstGeom>
        </p:spPr>
        <p:txBody>
          <a:bodyPr anchor="t" rtlCol="false" tIns="0" lIns="0" bIns="0" rIns="0">
            <a:spAutoFit/>
          </a:bodyPr>
          <a:lstStyle/>
          <a:p>
            <a:pPr algn="l">
              <a:lnSpc>
                <a:spcPts val="4579"/>
              </a:lnSpc>
            </a:pPr>
            <a:r>
              <a:rPr lang="en-US" sz="3270">
                <a:solidFill>
                  <a:srgbClr val="FFFFFF"/>
                </a:solidFill>
                <a:latin typeface="Source Sans Pro"/>
                <a:ea typeface="Source Sans Pro"/>
                <a:cs typeface="Source Sans Pro"/>
                <a:sym typeface="Source Sans Pro"/>
              </a:rPr>
              <a:t>Dosen Pembimbing</a:t>
            </a:r>
          </a:p>
        </p:txBody>
      </p:sp>
      <p:sp>
        <p:nvSpPr>
          <p:cNvPr name="TextBox 15" id="15"/>
          <p:cNvSpPr txBox="true"/>
          <p:nvPr/>
        </p:nvSpPr>
        <p:spPr>
          <a:xfrm rot="0">
            <a:off x="1028700" y="8442124"/>
            <a:ext cx="3761604" cy="578574"/>
          </a:xfrm>
          <a:prstGeom prst="rect">
            <a:avLst/>
          </a:prstGeom>
        </p:spPr>
        <p:txBody>
          <a:bodyPr anchor="t" rtlCol="false" tIns="0" lIns="0" bIns="0" rIns="0">
            <a:spAutoFit/>
          </a:bodyPr>
          <a:lstStyle/>
          <a:p>
            <a:pPr algn="l">
              <a:lnSpc>
                <a:spcPts val="4851"/>
              </a:lnSpc>
            </a:pPr>
            <a:r>
              <a:rPr lang="en-US" sz="3465" b="true">
                <a:solidFill>
                  <a:srgbClr val="FFFFFF"/>
                </a:solidFill>
                <a:latin typeface="Source Sans Pro Bold"/>
                <a:ea typeface="Source Sans Pro Bold"/>
                <a:cs typeface="Source Sans Pro Bold"/>
                <a:sym typeface="Source Sans Pro Bold"/>
              </a:rPr>
              <a:t>2122214</a:t>
            </a:r>
          </a:p>
        </p:txBody>
      </p:sp>
      <p:sp>
        <p:nvSpPr>
          <p:cNvPr name="TextBox 16" id="16"/>
          <p:cNvSpPr txBox="true"/>
          <p:nvPr/>
        </p:nvSpPr>
        <p:spPr>
          <a:xfrm rot="0">
            <a:off x="5504491" y="8449574"/>
            <a:ext cx="6508439" cy="571124"/>
          </a:xfrm>
          <a:prstGeom prst="rect">
            <a:avLst/>
          </a:prstGeom>
        </p:spPr>
        <p:txBody>
          <a:bodyPr anchor="t" rtlCol="false" tIns="0" lIns="0" bIns="0" rIns="0">
            <a:spAutoFit/>
          </a:bodyPr>
          <a:lstStyle/>
          <a:p>
            <a:pPr algn="l">
              <a:lnSpc>
                <a:spcPts val="4782"/>
              </a:lnSpc>
            </a:pPr>
            <a:r>
              <a:rPr lang="en-US" sz="3416" b="true">
                <a:solidFill>
                  <a:srgbClr val="FFFFFF"/>
                </a:solidFill>
                <a:latin typeface="Source Sans Pro Bold"/>
                <a:ea typeface="Source Sans Pro Bold"/>
                <a:cs typeface="Source Sans Pro Bold"/>
                <a:sym typeface="Source Sans Pro Bold"/>
              </a:rPr>
              <a:t>Dr. M. Isnando Tamrin, MA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12888" t="0" r="-12888" b="0"/>
            </a:stretch>
          </a:blipFill>
        </p:spPr>
      </p:sp>
      <p:grpSp>
        <p:nvGrpSpPr>
          <p:cNvPr name="Group 3" id="3"/>
          <p:cNvGrpSpPr/>
          <p:nvPr/>
        </p:nvGrpSpPr>
        <p:grpSpPr>
          <a:xfrm rot="0">
            <a:off x="4610100" y="0"/>
            <a:ext cx="13677900" cy="9785848"/>
            <a:chOff x="0" y="0"/>
            <a:chExt cx="3602410" cy="2577343"/>
          </a:xfrm>
        </p:grpSpPr>
        <p:sp>
          <p:nvSpPr>
            <p:cNvPr name="Freeform 4" id="4"/>
            <p:cNvSpPr/>
            <p:nvPr/>
          </p:nvSpPr>
          <p:spPr>
            <a:xfrm flipH="false" flipV="false" rot="0">
              <a:off x="0" y="0"/>
              <a:ext cx="3602410" cy="2577343"/>
            </a:xfrm>
            <a:custGeom>
              <a:avLst/>
              <a:gdLst/>
              <a:ahLst/>
              <a:cxnLst/>
              <a:rect r="r" b="b" t="t" l="l"/>
              <a:pathLst>
                <a:path h="2577343" w="3602410">
                  <a:moveTo>
                    <a:pt x="0" y="0"/>
                  </a:moveTo>
                  <a:lnTo>
                    <a:pt x="3602410" y="0"/>
                  </a:lnTo>
                  <a:lnTo>
                    <a:pt x="3602410" y="2577343"/>
                  </a:lnTo>
                  <a:lnTo>
                    <a:pt x="0" y="2577343"/>
                  </a:lnTo>
                  <a:close/>
                </a:path>
              </a:pathLst>
            </a:custGeom>
            <a:solidFill>
              <a:srgbClr val="023059"/>
            </a:solidFill>
          </p:spPr>
        </p:sp>
        <p:sp>
          <p:nvSpPr>
            <p:cNvPr name="TextBox 5" id="5"/>
            <p:cNvSpPr txBox="true"/>
            <p:nvPr/>
          </p:nvSpPr>
          <p:spPr>
            <a:xfrm>
              <a:off x="0" y="-95250"/>
              <a:ext cx="3602410" cy="2672593"/>
            </a:xfrm>
            <a:prstGeom prst="rect">
              <a:avLst/>
            </a:prstGeom>
          </p:spPr>
          <p:txBody>
            <a:bodyPr anchor="ctr" rtlCol="false" tIns="50800" lIns="50800" bIns="50800" rIns="50800"/>
            <a:lstStyle/>
            <a:p>
              <a:pPr algn="ctr">
                <a:lnSpc>
                  <a:spcPts val="3927"/>
                </a:lnSpc>
              </a:pPr>
            </a:p>
          </p:txBody>
        </p:sp>
      </p:grpSp>
      <p:sp>
        <p:nvSpPr>
          <p:cNvPr name="Freeform 6" id="6"/>
          <p:cNvSpPr/>
          <p:nvPr/>
        </p:nvSpPr>
        <p:spPr>
          <a:xfrm flipH="true" flipV="true" rot="-5400000">
            <a:off x="-5968007" y="3945931"/>
            <a:ext cx="10287000" cy="2395139"/>
          </a:xfrm>
          <a:custGeom>
            <a:avLst/>
            <a:gdLst/>
            <a:ahLst/>
            <a:cxnLst/>
            <a:rect r="r" b="b" t="t" l="l"/>
            <a:pathLst>
              <a:path h="2395139" w="10287000">
                <a:moveTo>
                  <a:pt x="10287000" y="2395138"/>
                </a:moveTo>
                <a:lnTo>
                  <a:pt x="0" y="2395138"/>
                </a:lnTo>
                <a:lnTo>
                  <a:pt x="0" y="0"/>
                </a:lnTo>
                <a:lnTo>
                  <a:pt x="10287000" y="0"/>
                </a:lnTo>
                <a:lnTo>
                  <a:pt x="10287000" y="2395138"/>
                </a:lnTo>
                <a:close/>
              </a:path>
            </a:pathLst>
          </a:custGeom>
          <a:blipFill>
            <a:blip r:embed="rId3">
              <a:extLst>
                <a:ext uri="{96DAC541-7B7A-43D3-8B79-37D633B846F1}">
                  <asvg:svgBlip xmlns:asvg="http://schemas.microsoft.com/office/drawing/2016/SVG/main" r:embed="rId4"/>
                </a:ext>
              </a:extLst>
            </a:blip>
            <a:stretch>
              <a:fillRect l="-1026" t="-57958" r="0" b="-958"/>
            </a:stretch>
          </a:blipFill>
        </p:spPr>
      </p:sp>
      <p:sp>
        <p:nvSpPr>
          <p:cNvPr name="Freeform 7" id="7"/>
          <p:cNvSpPr/>
          <p:nvPr/>
        </p:nvSpPr>
        <p:spPr>
          <a:xfrm flipH="false" flipV="false" rot="0">
            <a:off x="14318691" y="1143625"/>
            <a:ext cx="683395" cy="437373"/>
          </a:xfrm>
          <a:custGeom>
            <a:avLst/>
            <a:gdLst/>
            <a:ahLst/>
            <a:cxnLst/>
            <a:rect r="r" b="b" t="t" l="l"/>
            <a:pathLst>
              <a:path h="437373" w="683395">
                <a:moveTo>
                  <a:pt x="0" y="0"/>
                </a:moveTo>
                <a:lnTo>
                  <a:pt x="683395" y="0"/>
                </a:lnTo>
                <a:lnTo>
                  <a:pt x="683395" y="437373"/>
                </a:lnTo>
                <a:lnTo>
                  <a:pt x="0" y="4373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8116663" y="6755358"/>
            <a:ext cx="951137" cy="444437"/>
          </a:xfrm>
          <a:custGeom>
            <a:avLst/>
            <a:gdLst/>
            <a:ahLst/>
            <a:cxnLst/>
            <a:rect r="r" b="b" t="t" l="l"/>
            <a:pathLst>
              <a:path h="444437" w="951137">
                <a:moveTo>
                  <a:pt x="0" y="0"/>
                </a:moveTo>
                <a:lnTo>
                  <a:pt x="951137" y="0"/>
                </a:lnTo>
                <a:lnTo>
                  <a:pt x="951137" y="444436"/>
                </a:lnTo>
                <a:lnTo>
                  <a:pt x="0" y="444436"/>
                </a:lnTo>
                <a:lnTo>
                  <a:pt x="0" y="0"/>
                </a:lnTo>
                <a:close/>
              </a:path>
            </a:pathLst>
          </a:custGeom>
          <a:blipFill>
            <a:blip r:embed="rId7">
              <a:extLst>
                <a:ext uri="{96DAC541-7B7A-43D3-8B79-37D633B846F1}">
                  <asvg:svgBlip xmlns:asvg="http://schemas.microsoft.com/office/drawing/2016/SVG/main" r:embed="rId8"/>
                </a:ext>
              </a:extLst>
            </a:blip>
            <a:stretch>
              <a:fillRect l="0" t="-78900" r="-112980" b="0"/>
            </a:stretch>
          </a:blipFill>
        </p:spPr>
      </p:sp>
      <p:grpSp>
        <p:nvGrpSpPr>
          <p:cNvPr name="Group 9" id="9"/>
          <p:cNvGrpSpPr/>
          <p:nvPr/>
        </p:nvGrpSpPr>
        <p:grpSpPr>
          <a:xfrm rot="0">
            <a:off x="772241" y="0"/>
            <a:ext cx="5467100" cy="8978527"/>
            <a:chOff x="0" y="0"/>
            <a:chExt cx="1272463" cy="2089745"/>
          </a:xfrm>
        </p:grpSpPr>
        <p:sp>
          <p:nvSpPr>
            <p:cNvPr name="Freeform 10" id="10"/>
            <p:cNvSpPr/>
            <p:nvPr/>
          </p:nvSpPr>
          <p:spPr>
            <a:xfrm flipH="true" flipV="false" rot="0">
              <a:off x="0" y="0"/>
              <a:ext cx="1272463" cy="2089745"/>
            </a:xfrm>
            <a:custGeom>
              <a:avLst/>
              <a:gdLst/>
              <a:ahLst/>
              <a:cxnLst/>
              <a:rect r="r" b="b" t="t" l="l"/>
              <a:pathLst>
                <a:path h="2089745" w="1272463">
                  <a:moveTo>
                    <a:pt x="1272463" y="0"/>
                  </a:moveTo>
                  <a:lnTo>
                    <a:pt x="0" y="0"/>
                  </a:lnTo>
                  <a:lnTo>
                    <a:pt x="0" y="2089745"/>
                  </a:lnTo>
                  <a:lnTo>
                    <a:pt x="1272463" y="2089745"/>
                  </a:lnTo>
                  <a:close/>
                </a:path>
              </a:pathLst>
            </a:custGeom>
            <a:blipFill>
              <a:blip r:embed="rId9"/>
              <a:stretch>
                <a:fillRect l="-73248" t="0" r="-73248" b="0"/>
              </a:stretch>
            </a:blipFill>
          </p:spPr>
        </p:sp>
      </p:grpSp>
      <p:sp>
        <p:nvSpPr>
          <p:cNvPr name="Freeform 11" id="11"/>
          <p:cNvSpPr/>
          <p:nvPr/>
        </p:nvSpPr>
        <p:spPr>
          <a:xfrm flipH="false" flipV="false" rot="0">
            <a:off x="2208714" y="2175555"/>
            <a:ext cx="6935286" cy="8111445"/>
          </a:xfrm>
          <a:custGeom>
            <a:avLst/>
            <a:gdLst/>
            <a:ahLst/>
            <a:cxnLst/>
            <a:rect r="r" b="b" t="t" l="l"/>
            <a:pathLst>
              <a:path h="8111445" w="6935286">
                <a:moveTo>
                  <a:pt x="0" y="0"/>
                </a:moveTo>
                <a:lnTo>
                  <a:pt x="6935286" y="0"/>
                </a:lnTo>
                <a:lnTo>
                  <a:pt x="6935286" y="8111445"/>
                </a:lnTo>
                <a:lnTo>
                  <a:pt x="0" y="8111445"/>
                </a:lnTo>
                <a:lnTo>
                  <a:pt x="0" y="0"/>
                </a:lnTo>
                <a:close/>
              </a:path>
            </a:pathLst>
          </a:custGeom>
          <a:blipFill>
            <a:blip r:embed="rId10"/>
            <a:stretch>
              <a:fillRect l="0" t="0" r="0" b="0"/>
            </a:stretch>
          </a:blipFill>
        </p:spPr>
      </p:sp>
      <p:sp>
        <p:nvSpPr>
          <p:cNvPr name="TextBox 12" id="12"/>
          <p:cNvSpPr txBox="true"/>
          <p:nvPr/>
        </p:nvSpPr>
        <p:spPr>
          <a:xfrm rot="0">
            <a:off x="4610100" y="2483979"/>
            <a:ext cx="14929998" cy="4493597"/>
          </a:xfrm>
          <a:prstGeom prst="rect">
            <a:avLst/>
          </a:prstGeom>
        </p:spPr>
        <p:txBody>
          <a:bodyPr anchor="t" rtlCol="false" tIns="0" lIns="0" bIns="0" rIns="0">
            <a:spAutoFit/>
          </a:bodyPr>
          <a:lstStyle/>
          <a:p>
            <a:pPr algn="ctr">
              <a:lnSpc>
                <a:spcPts val="11860"/>
              </a:lnSpc>
            </a:pPr>
            <a:r>
              <a:rPr lang="en-US" b="true" sz="9883">
                <a:solidFill>
                  <a:srgbClr val="FFFFFF"/>
                </a:solidFill>
                <a:latin typeface="League Spartan"/>
                <a:ea typeface="League Spartan"/>
                <a:cs typeface="League Spartan"/>
                <a:sym typeface="League Spartan"/>
              </a:rPr>
              <a:t>BAB 1</a:t>
            </a:r>
          </a:p>
          <a:p>
            <a:pPr algn="ctr">
              <a:lnSpc>
                <a:spcPts val="11860"/>
              </a:lnSpc>
            </a:pPr>
            <a:r>
              <a:rPr lang="en-US" b="true" sz="9883">
                <a:solidFill>
                  <a:srgbClr val="FFFFFF"/>
                </a:solidFill>
                <a:latin typeface="League Spartan"/>
                <a:ea typeface="League Spartan"/>
                <a:cs typeface="League Spartan"/>
                <a:sym typeface="League Spartan"/>
              </a:rPr>
              <a:t> PENDAHULUAN</a:t>
            </a:r>
          </a:p>
          <a:p>
            <a:pPr algn="ctr">
              <a:lnSpc>
                <a:spcPts val="11860"/>
              </a:lnSpc>
            </a:pPr>
          </a:p>
        </p:txBody>
      </p:sp>
      <p:sp>
        <p:nvSpPr>
          <p:cNvPr name="Freeform 13" id="13"/>
          <p:cNvSpPr/>
          <p:nvPr/>
        </p:nvSpPr>
        <p:spPr>
          <a:xfrm flipH="false" flipV="false" rot="0">
            <a:off x="15761416" y="3821165"/>
            <a:ext cx="6935286" cy="8111445"/>
          </a:xfrm>
          <a:custGeom>
            <a:avLst/>
            <a:gdLst/>
            <a:ahLst/>
            <a:cxnLst/>
            <a:rect r="r" b="b" t="t" l="l"/>
            <a:pathLst>
              <a:path h="8111445" w="6935286">
                <a:moveTo>
                  <a:pt x="0" y="0"/>
                </a:moveTo>
                <a:lnTo>
                  <a:pt x="6935286" y="0"/>
                </a:lnTo>
                <a:lnTo>
                  <a:pt x="6935286" y="8111445"/>
                </a:lnTo>
                <a:lnTo>
                  <a:pt x="0" y="8111445"/>
                </a:lnTo>
                <a:lnTo>
                  <a:pt x="0" y="0"/>
                </a:lnTo>
                <a:close/>
              </a:path>
            </a:pathLst>
          </a:custGeom>
          <a:blipFill>
            <a:blip r:embed="rId10"/>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464425" y="-1454110"/>
            <a:ext cx="14185030" cy="3209092"/>
            <a:chOff x="0" y="0"/>
            <a:chExt cx="3735975" cy="845193"/>
          </a:xfrm>
        </p:grpSpPr>
        <p:sp>
          <p:nvSpPr>
            <p:cNvPr name="Freeform 4" id="4"/>
            <p:cNvSpPr/>
            <p:nvPr/>
          </p:nvSpPr>
          <p:spPr>
            <a:xfrm flipH="false" flipV="false" rot="0">
              <a:off x="0" y="0"/>
              <a:ext cx="3735975" cy="845193"/>
            </a:xfrm>
            <a:custGeom>
              <a:avLst/>
              <a:gdLst/>
              <a:ahLst/>
              <a:cxnLst/>
              <a:rect r="r" b="b" t="t" l="l"/>
              <a:pathLst>
                <a:path h="845193" w="3735975">
                  <a:moveTo>
                    <a:pt x="0" y="0"/>
                  </a:moveTo>
                  <a:lnTo>
                    <a:pt x="3735975" y="0"/>
                  </a:lnTo>
                  <a:lnTo>
                    <a:pt x="3735975" y="845193"/>
                  </a:lnTo>
                  <a:lnTo>
                    <a:pt x="0" y="845193"/>
                  </a:lnTo>
                  <a:close/>
                </a:path>
              </a:pathLst>
            </a:custGeom>
            <a:solidFill>
              <a:srgbClr val="101D56"/>
            </a:solidFill>
          </p:spPr>
        </p:sp>
        <p:sp>
          <p:nvSpPr>
            <p:cNvPr name="TextBox 5" id="5"/>
            <p:cNvSpPr txBox="true"/>
            <p:nvPr/>
          </p:nvSpPr>
          <p:spPr>
            <a:xfrm>
              <a:off x="0" y="-47625"/>
              <a:ext cx="3735975" cy="892818"/>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13335330" y="1028700"/>
            <a:ext cx="6341026" cy="7503318"/>
            <a:chOff x="0" y="0"/>
            <a:chExt cx="812800" cy="961784"/>
          </a:xfrm>
        </p:grpSpPr>
        <p:sp>
          <p:nvSpPr>
            <p:cNvPr name="Freeform 7" id="7"/>
            <p:cNvSpPr/>
            <p:nvPr/>
          </p:nvSpPr>
          <p:spPr>
            <a:xfrm flipH="false" flipV="false" rot="0">
              <a:off x="0" y="0"/>
              <a:ext cx="812800" cy="961784"/>
            </a:xfrm>
            <a:custGeom>
              <a:avLst/>
              <a:gdLst/>
              <a:ahLst/>
              <a:cxnLst/>
              <a:rect r="r" b="b" t="t" l="l"/>
              <a:pathLst>
                <a:path h="961784" w="812800">
                  <a:moveTo>
                    <a:pt x="28081" y="0"/>
                  </a:moveTo>
                  <a:lnTo>
                    <a:pt x="784719" y="0"/>
                  </a:lnTo>
                  <a:cubicBezTo>
                    <a:pt x="800228" y="0"/>
                    <a:pt x="812800" y="12572"/>
                    <a:pt x="812800" y="28081"/>
                  </a:cubicBezTo>
                  <a:lnTo>
                    <a:pt x="812800" y="933703"/>
                  </a:lnTo>
                  <a:cubicBezTo>
                    <a:pt x="812800" y="949212"/>
                    <a:pt x="800228" y="961784"/>
                    <a:pt x="784719" y="961784"/>
                  </a:cubicBezTo>
                  <a:lnTo>
                    <a:pt x="28081" y="961784"/>
                  </a:lnTo>
                  <a:cubicBezTo>
                    <a:pt x="12572" y="961784"/>
                    <a:pt x="0" y="949212"/>
                    <a:pt x="0" y="933703"/>
                  </a:cubicBezTo>
                  <a:lnTo>
                    <a:pt x="0" y="28081"/>
                  </a:lnTo>
                  <a:cubicBezTo>
                    <a:pt x="0" y="12572"/>
                    <a:pt x="12572" y="0"/>
                    <a:pt x="28081" y="0"/>
                  </a:cubicBezTo>
                  <a:close/>
                </a:path>
              </a:pathLst>
            </a:custGeom>
            <a:blipFill>
              <a:blip r:embed="rId3"/>
              <a:stretch>
                <a:fillRect l="-38802" t="0" r="-38802" b="0"/>
              </a:stretch>
            </a:blipFill>
          </p:spPr>
        </p:sp>
      </p:grpSp>
      <p:grpSp>
        <p:nvGrpSpPr>
          <p:cNvPr name="Group 8" id="8"/>
          <p:cNvGrpSpPr/>
          <p:nvPr/>
        </p:nvGrpSpPr>
        <p:grpSpPr>
          <a:xfrm rot="0">
            <a:off x="6628090" y="9773548"/>
            <a:ext cx="12450765" cy="1290481"/>
            <a:chOff x="0" y="0"/>
            <a:chExt cx="3279214" cy="339880"/>
          </a:xfrm>
        </p:grpSpPr>
        <p:sp>
          <p:nvSpPr>
            <p:cNvPr name="Freeform 9" id="9"/>
            <p:cNvSpPr/>
            <p:nvPr/>
          </p:nvSpPr>
          <p:spPr>
            <a:xfrm flipH="false" flipV="false" rot="0">
              <a:off x="0" y="0"/>
              <a:ext cx="3279214" cy="339880"/>
            </a:xfrm>
            <a:custGeom>
              <a:avLst/>
              <a:gdLst/>
              <a:ahLst/>
              <a:cxnLst/>
              <a:rect r="r" b="b" t="t" l="l"/>
              <a:pathLst>
                <a:path h="339880" w="3279214">
                  <a:moveTo>
                    <a:pt x="18654" y="0"/>
                  </a:moveTo>
                  <a:lnTo>
                    <a:pt x="3260560" y="0"/>
                  </a:lnTo>
                  <a:cubicBezTo>
                    <a:pt x="3265507" y="0"/>
                    <a:pt x="3270252" y="1965"/>
                    <a:pt x="3273750" y="5464"/>
                  </a:cubicBezTo>
                  <a:cubicBezTo>
                    <a:pt x="3277248" y="8962"/>
                    <a:pt x="3279214" y="13707"/>
                    <a:pt x="3279214" y="18654"/>
                  </a:cubicBezTo>
                  <a:lnTo>
                    <a:pt x="3279214" y="321226"/>
                  </a:lnTo>
                  <a:cubicBezTo>
                    <a:pt x="3279214" y="331528"/>
                    <a:pt x="3270862" y="339880"/>
                    <a:pt x="3260560" y="339880"/>
                  </a:cubicBezTo>
                  <a:lnTo>
                    <a:pt x="18654" y="339880"/>
                  </a:lnTo>
                  <a:cubicBezTo>
                    <a:pt x="8352" y="339880"/>
                    <a:pt x="0" y="331528"/>
                    <a:pt x="0" y="321226"/>
                  </a:cubicBezTo>
                  <a:lnTo>
                    <a:pt x="0" y="18654"/>
                  </a:lnTo>
                  <a:cubicBezTo>
                    <a:pt x="0" y="8352"/>
                    <a:pt x="8352" y="0"/>
                    <a:pt x="18654" y="0"/>
                  </a:cubicBezTo>
                  <a:close/>
                </a:path>
              </a:pathLst>
            </a:custGeom>
            <a:solidFill>
              <a:srgbClr val="101D56"/>
            </a:solidFill>
          </p:spPr>
        </p:sp>
        <p:sp>
          <p:nvSpPr>
            <p:cNvPr name="TextBox 10" id="10"/>
            <p:cNvSpPr txBox="true"/>
            <p:nvPr/>
          </p:nvSpPr>
          <p:spPr>
            <a:xfrm>
              <a:off x="0" y="-47625"/>
              <a:ext cx="3279214" cy="387505"/>
            </a:xfrm>
            <a:prstGeom prst="rect">
              <a:avLst/>
            </a:prstGeom>
          </p:spPr>
          <p:txBody>
            <a:bodyPr anchor="ctr" rtlCol="false" tIns="50800" lIns="50800" bIns="50800" rIns="50800"/>
            <a:lstStyle/>
            <a:p>
              <a:pPr algn="ctr">
                <a:lnSpc>
                  <a:spcPts val="3499"/>
                </a:lnSpc>
              </a:pPr>
            </a:p>
          </p:txBody>
        </p:sp>
      </p:grpSp>
      <p:sp>
        <p:nvSpPr>
          <p:cNvPr name="Freeform 11" id="11"/>
          <p:cNvSpPr/>
          <p:nvPr/>
        </p:nvSpPr>
        <p:spPr>
          <a:xfrm flipH="false" flipV="false" rot="0">
            <a:off x="0" y="0"/>
            <a:ext cx="1329272" cy="727474"/>
          </a:xfrm>
          <a:custGeom>
            <a:avLst/>
            <a:gdLst/>
            <a:ahLst/>
            <a:cxnLst/>
            <a:rect r="r" b="b" t="t" l="l"/>
            <a:pathLst>
              <a:path h="727474" w="1329272">
                <a:moveTo>
                  <a:pt x="0" y="0"/>
                </a:moveTo>
                <a:lnTo>
                  <a:pt x="1329272" y="0"/>
                </a:lnTo>
                <a:lnTo>
                  <a:pt x="1329272" y="727474"/>
                </a:lnTo>
                <a:lnTo>
                  <a:pt x="0" y="727474"/>
                </a:lnTo>
                <a:lnTo>
                  <a:pt x="0" y="0"/>
                </a:lnTo>
                <a:close/>
              </a:path>
            </a:pathLst>
          </a:custGeom>
          <a:blipFill>
            <a:blip r:embed="rId4">
              <a:alphaModFix amt="27000"/>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7130107" y="9194602"/>
            <a:ext cx="1157893" cy="1157893"/>
          </a:xfrm>
          <a:custGeom>
            <a:avLst/>
            <a:gdLst/>
            <a:ahLst/>
            <a:cxnLst/>
            <a:rect r="r" b="b" t="t" l="l"/>
            <a:pathLst>
              <a:path h="1157893" w="1157893">
                <a:moveTo>
                  <a:pt x="0" y="0"/>
                </a:moveTo>
                <a:lnTo>
                  <a:pt x="1157893" y="0"/>
                </a:lnTo>
                <a:lnTo>
                  <a:pt x="1157893" y="1157893"/>
                </a:lnTo>
                <a:lnTo>
                  <a:pt x="0" y="1157893"/>
                </a:lnTo>
                <a:lnTo>
                  <a:pt x="0" y="0"/>
                </a:lnTo>
                <a:close/>
              </a:path>
            </a:pathLst>
          </a:custGeom>
          <a:blipFill>
            <a:blip r:embed="rId6">
              <a:alphaModFix amt="27000"/>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505994" y="239912"/>
            <a:ext cx="13164527" cy="1107440"/>
          </a:xfrm>
          <a:prstGeom prst="rect">
            <a:avLst/>
          </a:prstGeom>
        </p:spPr>
        <p:txBody>
          <a:bodyPr anchor="t" rtlCol="false" tIns="0" lIns="0" bIns="0" rIns="0">
            <a:spAutoFit/>
          </a:bodyPr>
          <a:lstStyle/>
          <a:p>
            <a:pPr algn="l">
              <a:lnSpc>
                <a:spcPts val="8260"/>
              </a:lnSpc>
            </a:pPr>
            <a:r>
              <a:rPr lang="en-US" sz="5900" b="true">
                <a:solidFill>
                  <a:srgbClr val="FFFFFF"/>
                </a:solidFill>
                <a:latin typeface="Helvetica World Bold"/>
                <a:ea typeface="Helvetica World Bold"/>
                <a:cs typeface="Helvetica World Bold"/>
                <a:sym typeface="Helvetica World Bold"/>
              </a:rPr>
              <a:t>A. LATAR BELAKANG</a:t>
            </a:r>
          </a:p>
        </p:txBody>
      </p:sp>
      <p:sp>
        <p:nvSpPr>
          <p:cNvPr name="TextBox 14" id="14"/>
          <p:cNvSpPr txBox="true"/>
          <p:nvPr/>
        </p:nvSpPr>
        <p:spPr>
          <a:xfrm rot="0">
            <a:off x="0" y="2327125"/>
            <a:ext cx="11421365" cy="6798080"/>
          </a:xfrm>
          <a:prstGeom prst="rect">
            <a:avLst/>
          </a:prstGeom>
        </p:spPr>
        <p:txBody>
          <a:bodyPr anchor="t" rtlCol="false" tIns="0" lIns="0" bIns="0" rIns="0">
            <a:spAutoFit/>
          </a:bodyPr>
          <a:lstStyle/>
          <a:p>
            <a:pPr algn="l" marL="752208" indent="-376104" lvl="1">
              <a:lnSpc>
                <a:spcPts val="4877"/>
              </a:lnSpc>
              <a:buFont typeface="Arial"/>
              <a:buChar char="•"/>
            </a:pPr>
            <a:r>
              <a:rPr lang="en-US" sz="3484">
                <a:solidFill>
                  <a:srgbClr val="000000"/>
                </a:solidFill>
                <a:latin typeface="Archivo Black"/>
                <a:ea typeface="Archivo Black"/>
                <a:cs typeface="Archivo Black"/>
                <a:sym typeface="Archivo Black"/>
              </a:rPr>
              <a:t>Pendidikan di indonesia </a:t>
            </a:r>
            <a:r>
              <a:rPr lang="en-US" sz="3484">
                <a:solidFill>
                  <a:srgbClr val="000000"/>
                </a:solidFill>
                <a:latin typeface="Archivo Black"/>
                <a:ea typeface="Archivo Black"/>
                <a:cs typeface="Archivo Black"/>
                <a:sym typeface="Archivo Black"/>
              </a:rPr>
              <a:t>masih jauh tertinggal di buktikan dengan rendahnya kualitas pendidikan pada berbagai tingkatan, baik dalam pendidikan formal maupun nonformal.</a:t>
            </a:r>
          </a:p>
          <a:p>
            <a:pPr algn="l" marL="752208" indent="-376104" lvl="1">
              <a:lnSpc>
                <a:spcPts val="4877"/>
              </a:lnSpc>
              <a:buFont typeface="Arial"/>
              <a:buChar char="•"/>
            </a:pPr>
            <a:r>
              <a:rPr lang="en-US" sz="3484">
                <a:solidFill>
                  <a:srgbClr val="000000"/>
                </a:solidFill>
                <a:latin typeface="Archivo Black"/>
                <a:ea typeface="Archivo Black"/>
                <a:cs typeface="Archivo Black"/>
                <a:sym typeface="Archivo Black"/>
              </a:rPr>
              <a:t>Berdasarkan Undang-undang tentang pendidikan </a:t>
            </a:r>
            <a:r>
              <a:rPr lang="en-US" sz="3484">
                <a:solidFill>
                  <a:srgbClr val="000000"/>
                </a:solidFill>
                <a:latin typeface="Archivo Black"/>
                <a:ea typeface="Archivo Black"/>
                <a:cs typeface="Archivo Black"/>
                <a:sym typeface="Archivo Black"/>
              </a:rPr>
              <a:t>SISDIKNAS NO. 20 th 2003, bab 1 pasal 1 di jelaskan bahwa tujuan pendidikan itu membentuk potensi siswa berakhlak mulia, cakap, kreatif serta keterampilan yang di perlukan dirinya.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96243" y="-638997"/>
            <a:ext cx="14185030" cy="3209092"/>
            <a:chOff x="0" y="0"/>
            <a:chExt cx="3735975" cy="845193"/>
          </a:xfrm>
        </p:grpSpPr>
        <p:sp>
          <p:nvSpPr>
            <p:cNvPr name="Freeform 4" id="4"/>
            <p:cNvSpPr/>
            <p:nvPr/>
          </p:nvSpPr>
          <p:spPr>
            <a:xfrm flipH="false" flipV="false" rot="0">
              <a:off x="0" y="0"/>
              <a:ext cx="3735975" cy="845193"/>
            </a:xfrm>
            <a:custGeom>
              <a:avLst/>
              <a:gdLst/>
              <a:ahLst/>
              <a:cxnLst/>
              <a:rect r="r" b="b" t="t" l="l"/>
              <a:pathLst>
                <a:path h="845193" w="3735975">
                  <a:moveTo>
                    <a:pt x="0" y="0"/>
                  </a:moveTo>
                  <a:lnTo>
                    <a:pt x="3735975" y="0"/>
                  </a:lnTo>
                  <a:lnTo>
                    <a:pt x="3735975" y="845193"/>
                  </a:lnTo>
                  <a:lnTo>
                    <a:pt x="0" y="845193"/>
                  </a:lnTo>
                  <a:close/>
                </a:path>
              </a:pathLst>
            </a:custGeom>
            <a:solidFill>
              <a:srgbClr val="101D56"/>
            </a:solidFill>
          </p:spPr>
        </p:sp>
        <p:sp>
          <p:nvSpPr>
            <p:cNvPr name="TextBox 5" id="5"/>
            <p:cNvSpPr txBox="true"/>
            <p:nvPr/>
          </p:nvSpPr>
          <p:spPr>
            <a:xfrm>
              <a:off x="0" y="-47625"/>
              <a:ext cx="3735975" cy="892818"/>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12118368" y="1754982"/>
            <a:ext cx="6169632" cy="7503318"/>
            <a:chOff x="0" y="0"/>
            <a:chExt cx="790831" cy="961784"/>
          </a:xfrm>
        </p:grpSpPr>
        <p:sp>
          <p:nvSpPr>
            <p:cNvPr name="Freeform 7" id="7"/>
            <p:cNvSpPr/>
            <p:nvPr/>
          </p:nvSpPr>
          <p:spPr>
            <a:xfrm flipH="false" flipV="false" rot="0">
              <a:off x="0" y="0"/>
              <a:ext cx="790831" cy="961784"/>
            </a:xfrm>
            <a:custGeom>
              <a:avLst/>
              <a:gdLst/>
              <a:ahLst/>
              <a:cxnLst/>
              <a:rect r="r" b="b" t="t" l="l"/>
              <a:pathLst>
                <a:path h="961784" w="790831">
                  <a:moveTo>
                    <a:pt x="28861" y="0"/>
                  </a:moveTo>
                  <a:lnTo>
                    <a:pt x="761969" y="0"/>
                  </a:lnTo>
                  <a:cubicBezTo>
                    <a:pt x="769624" y="0"/>
                    <a:pt x="776965" y="3041"/>
                    <a:pt x="782377" y="8453"/>
                  </a:cubicBezTo>
                  <a:cubicBezTo>
                    <a:pt x="787790" y="13866"/>
                    <a:pt x="790831" y="21207"/>
                    <a:pt x="790831" y="28861"/>
                  </a:cubicBezTo>
                  <a:lnTo>
                    <a:pt x="790831" y="932923"/>
                  </a:lnTo>
                  <a:cubicBezTo>
                    <a:pt x="790831" y="940577"/>
                    <a:pt x="787790" y="947918"/>
                    <a:pt x="782377" y="953331"/>
                  </a:cubicBezTo>
                  <a:cubicBezTo>
                    <a:pt x="776965" y="958743"/>
                    <a:pt x="769624" y="961784"/>
                    <a:pt x="761969" y="961784"/>
                  </a:cubicBezTo>
                  <a:lnTo>
                    <a:pt x="28861" y="961784"/>
                  </a:lnTo>
                  <a:cubicBezTo>
                    <a:pt x="21207" y="961784"/>
                    <a:pt x="13866" y="958743"/>
                    <a:pt x="8453" y="953331"/>
                  </a:cubicBezTo>
                  <a:cubicBezTo>
                    <a:pt x="3041" y="947918"/>
                    <a:pt x="0" y="940577"/>
                    <a:pt x="0" y="932923"/>
                  </a:cubicBezTo>
                  <a:lnTo>
                    <a:pt x="0" y="28861"/>
                  </a:lnTo>
                  <a:cubicBezTo>
                    <a:pt x="0" y="21207"/>
                    <a:pt x="3041" y="13866"/>
                    <a:pt x="8453" y="8453"/>
                  </a:cubicBezTo>
                  <a:cubicBezTo>
                    <a:pt x="13866" y="3041"/>
                    <a:pt x="21207" y="0"/>
                    <a:pt x="28861" y="0"/>
                  </a:cubicBezTo>
                  <a:close/>
                </a:path>
              </a:pathLst>
            </a:custGeom>
            <a:blipFill>
              <a:blip r:embed="rId3"/>
              <a:stretch>
                <a:fillRect l="-41269" t="0" r="-41269" b="0"/>
              </a:stretch>
            </a:blipFill>
          </p:spPr>
        </p:sp>
      </p:grpSp>
      <p:grpSp>
        <p:nvGrpSpPr>
          <p:cNvPr name="Group 8" id="8"/>
          <p:cNvGrpSpPr/>
          <p:nvPr/>
        </p:nvGrpSpPr>
        <p:grpSpPr>
          <a:xfrm rot="0">
            <a:off x="12118368" y="8980893"/>
            <a:ext cx="6960487" cy="3668449"/>
            <a:chOff x="0" y="0"/>
            <a:chExt cx="1833215" cy="966176"/>
          </a:xfrm>
        </p:grpSpPr>
        <p:sp>
          <p:nvSpPr>
            <p:cNvPr name="Freeform 9" id="9"/>
            <p:cNvSpPr/>
            <p:nvPr/>
          </p:nvSpPr>
          <p:spPr>
            <a:xfrm flipH="false" flipV="false" rot="0">
              <a:off x="0" y="0"/>
              <a:ext cx="1833215" cy="966176"/>
            </a:xfrm>
            <a:custGeom>
              <a:avLst/>
              <a:gdLst/>
              <a:ahLst/>
              <a:cxnLst/>
              <a:rect r="r" b="b" t="t" l="l"/>
              <a:pathLst>
                <a:path h="966176" w="1833215">
                  <a:moveTo>
                    <a:pt x="33368" y="0"/>
                  </a:moveTo>
                  <a:lnTo>
                    <a:pt x="1799847" y="0"/>
                  </a:lnTo>
                  <a:cubicBezTo>
                    <a:pt x="1818275" y="0"/>
                    <a:pt x="1833215" y="14939"/>
                    <a:pt x="1833215" y="33368"/>
                  </a:cubicBezTo>
                  <a:lnTo>
                    <a:pt x="1833215" y="932808"/>
                  </a:lnTo>
                  <a:cubicBezTo>
                    <a:pt x="1833215" y="941658"/>
                    <a:pt x="1829699" y="950145"/>
                    <a:pt x="1823441" y="956403"/>
                  </a:cubicBezTo>
                  <a:cubicBezTo>
                    <a:pt x="1817184" y="962660"/>
                    <a:pt x="1808696" y="966176"/>
                    <a:pt x="1799847" y="966176"/>
                  </a:cubicBezTo>
                  <a:lnTo>
                    <a:pt x="33368" y="966176"/>
                  </a:lnTo>
                  <a:cubicBezTo>
                    <a:pt x="24518" y="966176"/>
                    <a:pt x="16031" y="962660"/>
                    <a:pt x="9773" y="956403"/>
                  </a:cubicBezTo>
                  <a:cubicBezTo>
                    <a:pt x="3516" y="950145"/>
                    <a:pt x="0" y="941658"/>
                    <a:pt x="0" y="932808"/>
                  </a:cubicBezTo>
                  <a:lnTo>
                    <a:pt x="0" y="33368"/>
                  </a:lnTo>
                  <a:cubicBezTo>
                    <a:pt x="0" y="24518"/>
                    <a:pt x="3516" y="16031"/>
                    <a:pt x="9773" y="9773"/>
                  </a:cubicBezTo>
                  <a:cubicBezTo>
                    <a:pt x="16031" y="3516"/>
                    <a:pt x="24518" y="0"/>
                    <a:pt x="33368" y="0"/>
                  </a:cubicBezTo>
                  <a:close/>
                </a:path>
              </a:pathLst>
            </a:custGeom>
            <a:solidFill>
              <a:srgbClr val="101D56"/>
            </a:solidFill>
          </p:spPr>
        </p:sp>
        <p:sp>
          <p:nvSpPr>
            <p:cNvPr name="TextBox 10" id="10"/>
            <p:cNvSpPr txBox="true"/>
            <p:nvPr/>
          </p:nvSpPr>
          <p:spPr>
            <a:xfrm>
              <a:off x="0" y="-47625"/>
              <a:ext cx="1833215" cy="1013801"/>
            </a:xfrm>
            <a:prstGeom prst="rect">
              <a:avLst/>
            </a:prstGeom>
          </p:spPr>
          <p:txBody>
            <a:bodyPr anchor="ctr" rtlCol="false" tIns="50800" lIns="50800" bIns="50800" rIns="50800"/>
            <a:lstStyle/>
            <a:p>
              <a:pPr algn="ctr">
                <a:lnSpc>
                  <a:spcPts val="3499"/>
                </a:lnSpc>
              </a:pPr>
            </a:p>
          </p:txBody>
        </p:sp>
      </p:grpSp>
      <p:sp>
        <p:nvSpPr>
          <p:cNvPr name="Freeform 11" id="11"/>
          <p:cNvSpPr/>
          <p:nvPr/>
        </p:nvSpPr>
        <p:spPr>
          <a:xfrm flipH="false" flipV="false" rot="0">
            <a:off x="0" y="0"/>
            <a:ext cx="1329272" cy="727474"/>
          </a:xfrm>
          <a:custGeom>
            <a:avLst/>
            <a:gdLst/>
            <a:ahLst/>
            <a:cxnLst/>
            <a:rect r="r" b="b" t="t" l="l"/>
            <a:pathLst>
              <a:path h="727474" w="1329272">
                <a:moveTo>
                  <a:pt x="0" y="0"/>
                </a:moveTo>
                <a:lnTo>
                  <a:pt x="1329272" y="0"/>
                </a:lnTo>
                <a:lnTo>
                  <a:pt x="1329272" y="727474"/>
                </a:lnTo>
                <a:lnTo>
                  <a:pt x="0" y="727474"/>
                </a:lnTo>
                <a:lnTo>
                  <a:pt x="0" y="0"/>
                </a:lnTo>
                <a:close/>
              </a:path>
            </a:pathLst>
          </a:custGeom>
          <a:blipFill>
            <a:blip r:embed="rId4">
              <a:alphaModFix amt="27000"/>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7130107" y="9194602"/>
            <a:ext cx="1157893" cy="1157893"/>
          </a:xfrm>
          <a:custGeom>
            <a:avLst/>
            <a:gdLst/>
            <a:ahLst/>
            <a:cxnLst/>
            <a:rect r="r" b="b" t="t" l="l"/>
            <a:pathLst>
              <a:path h="1157893" w="1157893">
                <a:moveTo>
                  <a:pt x="0" y="0"/>
                </a:moveTo>
                <a:lnTo>
                  <a:pt x="1157893" y="0"/>
                </a:lnTo>
                <a:lnTo>
                  <a:pt x="1157893" y="1157893"/>
                </a:lnTo>
                <a:lnTo>
                  <a:pt x="0" y="1157893"/>
                </a:lnTo>
                <a:lnTo>
                  <a:pt x="0" y="0"/>
                </a:lnTo>
                <a:close/>
              </a:path>
            </a:pathLst>
          </a:custGeom>
          <a:blipFill>
            <a:blip r:embed="rId6">
              <a:alphaModFix amt="27000"/>
              <a:extLst>
                <a:ext uri="{96DAC541-7B7A-43D3-8B79-37D633B846F1}">
                  <asvg:svgBlip xmlns:asvg="http://schemas.microsoft.com/office/drawing/2016/SVG/main" r:embed="rId7"/>
                </a:ext>
              </a:extLst>
            </a:blip>
            <a:stretch>
              <a:fillRect l="0" t="0" r="0" b="0"/>
            </a:stretch>
          </a:blipFill>
        </p:spPr>
      </p:sp>
      <p:grpSp>
        <p:nvGrpSpPr>
          <p:cNvPr name="Group 13" id="13"/>
          <p:cNvGrpSpPr/>
          <p:nvPr/>
        </p:nvGrpSpPr>
        <p:grpSpPr>
          <a:xfrm rot="0">
            <a:off x="-524687" y="2046983"/>
            <a:ext cx="10411686" cy="1046987"/>
            <a:chOff x="0" y="0"/>
            <a:chExt cx="2742172" cy="275750"/>
          </a:xfrm>
        </p:grpSpPr>
        <p:sp>
          <p:nvSpPr>
            <p:cNvPr name="Freeform 14" id="14"/>
            <p:cNvSpPr/>
            <p:nvPr/>
          </p:nvSpPr>
          <p:spPr>
            <a:xfrm flipH="false" flipV="false" rot="0">
              <a:off x="0" y="0"/>
              <a:ext cx="2742172" cy="275750"/>
            </a:xfrm>
            <a:custGeom>
              <a:avLst/>
              <a:gdLst/>
              <a:ahLst/>
              <a:cxnLst/>
              <a:rect r="r" b="b" t="t" l="l"/>
              <a:pathLst>
                <a:path h="275750" w="2742172">
                  <a:moveTo>
                    <a:pt x="0" y="0"/>
                  </a:moveTo>
                  <a:lnTo>
                    <a:pt x="2742172" y="0"/>
                  </a:lnTo>
                  <a:lnTo>
                    <a:pt x="2742172" y="275750"/>
                  </a:lnTo>
                  <a:lnTo>
                    <a:pt x="0" y="275750"/>
                  </a:lnTo>
                  <a:close/>
                </a:path>
              </a:pathLst>
            </a:custGeom>
            <a:solidFill>
              <a:srgbClr val="101D56"/>
            </a:solidFill>
          </p:spPr>
        </p:sp>
        <p:sp>
          <p:nvSpPr>
            <p:cNvPr name="TextBox 15" id="15"/>
            <p:cNvSpPr txBox="true"/>
            <p:nvPr/>
          </p:nvSpPr>
          <p:spPr>
            <a:xfrm>
              <a:off x="0" y="-47625"/>
              <a:ext cx="2742172" cy="323375"/>
            </a:xfrm>
            <a:prstGeom prst="rect">
              <a:avLst/>
            </a:prstGeom>
          </p:spPr>
          <p:txBody>
            <a:bodyPr anchor="ctr" rtlCol="false" tIns="50800" lIns="50800" bIns="50800" rIns="50800"/>
            <a:lstStyle/>
            <a:p>
              <a:pPr algn="ctr">
                <a:lnSpc>
                  <a:spcPts val="3499"/>
                </a:lnSpc>
              </a:pPr>
            </a:p>
          </p:txBody>
        </p:sp>
      </p:grpSp>
      <p:sp>
        <p:nvSpPr>
          <p:cNvPr name="TextBox 16" id="16"/>
          <p:cNvSpPr txBox="true"/>
          <p:nvPr/>
        </p:nvSpPr>
        <p:spPr>
          <a:xfrm rot="0">
            <a:off x="664636" y="919923"/>
            <a:ext cx="13403935" cy="1127060"/>
          </a:xfrm>
          <a:prstGeom prst="rect">
            <a:avLst/>
          </a:prstGeom>
        </p:spPr>
        <p:txBody>
          <a:bodyPr anchor="t" rtlCol="false" tIns="0" lIns="0" bIns="0" rIns="0">
            <a:spAutoFit/>
          </a:bodyPr>
          <a:lstStyle/>
          <a:p>
            <a:pPr algn="l">
              <a:lnSpc>
                <a:spcPts val="8426"/>
              </a:lnSpc>
            </a:pPr>
            <a:r>
              <a:rPr lang="en-US" sz="6018" b="true">
                <a:solidFill>
                  <a:srgbClr val="FFFFFF"/>
                </a:solidFill>
                <a:latin typeface="Helvetica World Bold"/>
                <a:ea typeface="Helvetica World Bold"/>
                <a:cs typeface="Helvetica World Bold"/>
                <a:sym typeface="Helvetica World Bold"/>
              </a:rPr>
              <a:t>A. LATAR BELAKANG</a:t>
            </a:r>
          </a:p>
        </p:txBody>
      </p:sp>
      <p:sp>
        <p:nvSpPr>
          <p:cNvPr name="TextBox 17" id="17"/>
          <p:cNvSpPr txBox="true"/>
          <p:nvPr/>
        </p:nvSpPr>
        <p:spPr>
          <a:xfrm rot="0">
            <a:off x="0" y="3351145"/>
            <a:ext cx="11494321" cy="7529758"/>
          </a:xfrm>
          <a:prstGeom prst="rect">
            <a:avLst/>
          </a:prstGeom>
        </p:spPr>
        <p:txBody>
          <a:bodyPr anchor="t" rtlCol="false" tIns="0" lIns="0" bIns="0" rIns="0">
            <a:spAutoFit/>
          </a:bodyPr>
          <a:lstStyle/>
          <a:p>
            <a:pPr algn="l" marL="767055" indent="-383527" lvl="1">
              <a:lnSpc>
                <a:spcPts val="4973"/>
              </a:lnSpc>
              <a:buFont typeface="Arial"/>
              <a:buChar char="•"/>
            </a:pPr>
            <a:r>
              <a:rPr lang="en-US" sz="3552">
                <a:solidFill>
                  <a:srgbClr val="000000"/>
                </a:solidFill>
                <a:latin typeface="Archivo Black"/>
                <a:ea typeface="Archivo Black"/>
                <a:cs typeface="Archivo Black"/>
                <a:sym typeface="Archivo Black"/>
              </a:rPr>
              <a:t>Di jelaskan Qs al-Hujurat ayat 13, dalam berinteraksi kita harus saling mengenal terlebih dahulu. jika kita tidak mengenal bagaimana nantiknya kita akan berinteraksi.</a:t>
            </a:r>
          </a:p>
          <a:p>
            <a:pPr algn="l" marL="767055" indent="-383527" lvl="1">
              <a:lnSpc>
                <a:spcPts val="4973"/>
              </a:lnSpc>
              <a:buFont typeface="Arial"/>
              <a:buChar char="•"/>
            </a:pPr>
            <a:r>
              <a:rPr lang="en-US" sz="3552">
                <a:solidFill>
                  <a:srgbClr val="000000"/>
                </a:solidFill>
                <a:latin typeface="Archivo Black"/>
                <a:ea typeface="Archivo Black"/>
                <a:cs typeface="Archivo Black"/>
                <a:sym typeface="Archivo Black"/>
              </a:rPr>
              <a:t>sehingga di perlukan pendidikan agama islam hal ini di dasarkan pada ajaran agama islam melalui kegiatan bimbingan, pengajaran serta lainya</a:t>
            </a:r>
          </a:p>
          <a:p>
            <a:pPr algn="just" marL="767055" indent="-383527" lvl="1">
              <a:lnSpc>
                <a:spcPts val="4973"/>
              </a:lnSpc>
              <a:buFont typeface="Arial"/>
              <a:buChar char="•"/>
            </a:pPr>
            <a:r>
              <a:rPr lang="en-US" sz="3552">
                <a:solidFill>
                  <a:srgbClr val="000000"/>
                </a:solidFill>
                <a:latin typeface="Archivo Black"/>
                <a:ea typeface="Archivo Black"/>
                <a:cs typeface="Archivo Black"/>
                <a:sym typeface="Archivo Black"/>
              </a:rPr>
              <a:t>wawancara dan observasi sementara yang di lakukan</a:t>
            </a:r>
          </a:p>
          <a:p>
            <a:pPr algn="just">
              <a:lnSpc>
                <a:spcPts val="4973"/>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96243" y="-638997"/>
            <a:ext cx="14185030" cy="1964359"/>
            <a:chOff x="0" y="0"/>
            <a:chExt cx="3735975" cy="517362"/>
          </a:xfrm>
        </p:grpSpPr>
        <p:sp>
          <p:nvSpPr>
            <p:cNvPr name="Freeform 4" id="4"/>
            <p:cNvSpPr/>
            <p:nvPr/>
          </p:nvSpPr>
          <p:spPr>
            <a:xfrm flipH="false" flipV="false" rot="0">
              <a:off x="0" y="0"/>
              <a:ext cx="3735975" cy="517362"/>
            </a:xfrm>
            <a:custGeom>
              <a:avLst/>
              <a:gdLst/>
              <a:ahLst/>
              <a:cxnLst/>
              <a:rect r="r" b="b" t="t" l="l"/>
              <a:pathLst>
                <a:path h="517362" w="3735975">
                  <a:moveTo>
                    <a:pt x="0" y="0"/>
                  </a:moveTo>
                  <a:lnTo>
                    <a:pt x="3735975" y="0"/>
                  </a:lnTo>
                  <a:lnTo>
                    <a:pt x="3735975" y="517362"/>
                  </a:lnTo>
                  <a:lnTo>
                    <a:pt x="0" y="517362"/>
                  </a:lnTo>
                  <a:close/>
                </a:path>
              </a:pathLst>
            </a:custGeom>
            <a:solidFill>
              <a:srgbClr val="101D56"/>
            </a:solidFill>
          </p:spPr>
        </p:sp>
        <p:sp>
          <p:nvSpPr>
            <p:cNvPr name="TextBox 5" id="5"/>
            <p:cNvSpPr txBox="true"/>
            <p:nvPr/>
          </p:nvSpPr>
          <p:spPr>
            <a:xfrm>
              <a:off x="0" y="-47625"/>
              <a:ext cx="3735975" cy="564987"/>
            </a:xfrm>
            <a:prstGeom prst="rect">
              <a:avLst/>
            </a:prstGeom>
          </p:spPr>
          <p:txBody>
            <a:bodyPr anchor="ctr" rtlCol="false" tIns="50800" lIns="50800" bIns="50800" rIns="50800"/>
            <a:lstStyle/>
            <a:p>
              <a:pPr algn="ctr">
                <a:lnSpc>
                  <a:spcPts val="3499"/>
                </a:lnSpc>
              </a:pPr>
            </a:p>
          </p:txBody>
        </p:sp>
      </p:grpSp>
      <p:sp>
        <p:nvSpPr>
          <p:cNvPr name="Freeform 6" id="6"/>
          <p:cNvSpPr/>
          <p:nvPr/>
        </p:nvSpPr>
        <p:spPr>
          <a:xfrm flipH="false" flipV="false" rot="0">
            <a:off x="0" y="0"/>
            <a:ext cx="1329272" cy="727474"/>
          </a:xfrm>
          <a:custGeom>
            <a:avLst/>
            <a:gdLst/>
            <a:ahLst/>
            <a:cxnLst/>
            <a:rect r="r" b="b" t="t" l="l"/>
            <a:pathLst>
              <a:path h="727474" w="1329272">
                <a:moveTo>
                  <a:pt x="0" y="0"/>
                </a:moveTo>
                <a:lnTo>
                  <a:pt x="1329272" y="0"/>
                </a:lnTo>
                <a:lnTo>
                  <a:pt x="1329272" y="727474"/>
                </a:lnTo>
                <a:lnTo>
                  <a:pt x="0" y="727474"/>
                </a:lnTo>
                <a:lnTo>
                  <a:pt x="0" y="0"/>
                </a:lnTo>
                <a:close/>
              </a:path>
            </a:pathLst>
          </a:custGeom>
          <a:blipFill>
            <a:blip r:embed="rId3">
              <a:alphaModFix amt="27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7130107" y="9194602"/>
            <a:ext cx="1157893" cy="1157893"/>
          </a:xfrm>
          <a:custGeom>
            <a:avLst/>
            <a:gdLst/>
            <a:ahLst/>
            <a:cxnLst/>
            <a:rect r="r" b="b" t="t" l="l"/>
            <a:pathLst>
              <a:path h="1157893" w="1157893">
                <a:moveTo>
                  <a:pt x="0" y="0"/>
                </a:moveTo>
                <a:lnTo>
                  <a:pt x="1157893" y="0"/>
                </a:lnTo>
                <a:lnTo>
                  <a:pt x="1157893" y="1157893"/>
                </a:lnTo>
                <a:lnTo>
                  <a:pt x="0" y="1157893"/>
                </a:lnTo>
                <a:lnTo>
                  <a:pt x="0" y="0"/>
                </a:lnTo>
                <a:close/>
              </a:path>
            </a:pathLst>
          </a:custGeom>
          <a:blipFill>
            <a:blip r:embed="rId5">
              <a:alphaModFix amt="27000"/>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587072" y="1687920"/>
            <a:ext cx="17700928" cy="8664575"/>
          </a:xfrm>
          <a:prstGeom prst="rect">
            <a:avLst/>
          </a:prstGeom>
        </p:spPr>
        <p:txBody>
          <a:bodyPr anchor="t" rtlCol="false" tIns="0" lIns="0" bIns="0" rIns="0">
            <a:spAutoFit/>
          </a:bodyPr>
          <a:lstStyle/>
          <a:p>
            <a:pPr algn="just">
              <a:lnSpc>
                <a:spcPts val="4900"/>
              </a:lnSpc>
            </a:pPr>
            <a:r>
              <a:rPr lang="en-US" sz="3500">
                <a:solidFill>
                  <a:srgbClr val="000000"/>
                </a:solidFill>
                <a:latin typeface="Archivo Black"/>
                <a:ea typeface="Archivo Black"/>
                <a:cs typeface="Archivo Black"/>
                <a:sym typeface="Archivo Black"/>
              </a:rPr>
              <a:t>Secara umum, masih dapat diamati bahwa sebagian siswa menghadapi kendala dalam berinteraksi social baik itu dengan guru dan juga teman. Salah satunya saat menyampaikan pendapat ketika guru memberikan kesempatan untuk bertanya maupun mengajukan pertanyaan</a:t>
            </a:r>
            <a:r>
              <a:rPr lang="en-US" sz="3500">
                <a:solidFill>
                  <a:srgbClr val="000000"/>
                </a:solidFill>
                <a:latin typeface="Archivo Black"/>
                <a:ea typeface="Archivo Black"/>
                <a:cs typeface="Archivo Black"/>
                <a:sym typeface="Archivo Black"/>
              </a:rPr>
              <a:t>Banyak siswa yang memilih untuk tetap diam, hal ini menunjukkanbahwa rasa percaya diri siswa dalam proses pembelajaran masih tergolong rendah. Artinya, ia belum cakap dalam berinteraksi, disisi lain, dalam berinteraksi siswa dengan sesama seringkali acuh dan tidak inggin tahu.</a:t>
            </a:r>
          </a:p>
          <a:p>
            <a:pPr algn="l">
              <a:lnSpc>
                <a:spcPts val="4900"/>
              </a:lnSpc>
            </a:pPr>
            <a:r>
              <a:rPr lang="en-US" sz="3500">
                <a:solidFill>
                  <a:srgbClr val="000000"/>
                </a:solidFill>
                <a:latin typeface="Archivo Black"/>
                <a:ea typeface="Archivo Black"/>
                <a:cs typeface="Archivo Black"/>
                <a:sym typeface="Archivo Black"/>
              </a:rPr>
              <a:t>Faktor penyebabnya dapat beragam, seperti rasa malu, takut, kekhawatiran akan memberikan jawaban yang keliru, serta ketakutan jika mendapat tanggapan negatif dari guru maupun teman sekelasnya, sehingga hubungan interaksi mereka mejadi terganggu.</a:t>
            </a:r>
          </a:p>
          <a:p>
            <a:pPr algn="l">
              <a:lnSpc>
                <a:spcPts val="490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640337" y="9600143"/>
            <a:ext cx="9274800" cy="2083136"/>
            <a:chOff x="0" y="0"/>
            <a:chExt cx="2442746" cy="548645"/>
          </a:xfrm>
        </p:grpSpPr>
        <p:sp>
          <p:nvSpPr>
            <p:cNvPr name="Freeform 4" id="4"/>
            <p:cNvSpPr/>
            <p:nvPr/>
          </p:nvSpPr>
          <p:spPr>
            <a:xfrm flipH="false" flipV="false" rot="0">
              <a:off x="0" y="0"/>
              <a:ext cx="2442746" cy="548645"/>
            </a:xfrm>
            <a:custGeom>
              <a:avLst/>
              <a:gdLst/>
              <a:ahLst/>
              <a:cxnLst/>
              <a:rect r="r" b="b" t="t" l="l"/>
              <a:pathLst>
                <a:path h="548645" w="2442746">
                  <a:moveTo>
                    <a:pt x="25042" y="0"/>
                  </a:moveTo>
                  <a:lnTo>
                    <a:pt x="2417704" y="0"/>
                  </a:lnTo>
                  <a:cubicBezTo>
                    <a:pt x="2431534" y="0"/>
                    <a:pt x="2442746" y="11212"/>
                    <a:pt x="2442746" y="25042"/>
                  </a:cubicBezTo>
                  <a:lnTo>
                    <a:pt x="2442746" y="523603"/>
                  </a:lnTo>
                  <a:cubicBezTo>
                    <a:pt x="2442746" y="530244"/>
                    <a:pt x="2440107" y="536614"/>
                    <a:pt x="2435411" y="541310"/>
                  </a:cubicBezTo>
                  <a:cubicBezTo>
                    <a:pt x="2430715" y="546006"/>
                    <a:pt x="2424345" y="548645"/>
                    <a:pt x="2417704" y="548645"/>
                  </a:cubicBezTo>
                  <a:lnTo>
                    <a:pt x="25042" y="548645"/>
                  </a:lnTo>
                  <a:cubicBezTo>
                    <a:pt x="18400" y="548645"/>
                    <a:pt x="12031" y="546006"/>
                    <a:pt x="7335" y="541310"/>
                  </a:cubicBezTo>
                  <a:cubicBezTo>
                    <a:pt x="2638" y="536614"/>
                    <a:pt x="0" y="530244"/>
                    <a:pt x="0" y="523603"/>
                  </a:cubicBezTo>
                  <a:lnTo>
                    <a:pt x="0" y="25042"/>
                  </a:lnTo>
                  <a:cubicBezTo>
                    <a:pt x="0" y="18400"/>
                    <a:pt x="2638" y="12031"/>
                    <a:pt x="7335" y="7335"/>
                  </a:cubicBezTo>
                  <a:cubicBezTo>
                    <a:pt x="12031" y="2638"/>
                    <a:pt x="18400" y="0"/>
                    <a:pt x="25042" y="0"/>
                  </a:cubicBezTo>
                  <a:close/>
                </a:path>
              </a:pathLst>
            </a:custGeom>
            <a:solidFill>
              <a:srgbClr val="101D56"/>
            </a:solidFill>
          </p:spPr>
        </p:sp>
        <p:sp>
          <p:nvSpPr>
            <p:cNvPr name="TextBox 5" id="5"/>
            <p:cNvSpPr txBox="true"/>
            <p:nvPr/>
          </p:nvSpPr>
          <p:spPr>
            <a:xfrm>
              <a:off x="0" y="-47625"/>
              <a:ext cx="2442746" cy="596270"/>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640337" y="-1218468"/>
            <a:ext cx="9274800" cy="2083136"/>
            <a:chOff x="0" y="0"/>
            <a:chExt cx="2442746" cy="548645"/>
          </a:xfrm>
        </p:grpSpPr>
        <p:sp>
          <p:nvSpPr>
            <p:cNvPr name="Freeform 7" id="7"/>
            <p:cNvSpPr/>
            <p:nvPr/>
          </p:nvSpPr>
          <p:spPr>
            <a:xfrm flipH="false" flipV="false" rot="0">
              <a:off x="0" y="0"/>
              <a:ext cx="2442746" cy="548645"/>
            </a:xfrm>
            <a:custGeom>
              <a:avLst/>
              <a:gdLst/>
              <a:ahLst/>
              <a:cxnLst/>
              <a:rect r="r" b="b" t="t" l="l"/>
              <a:pathLst>
                <a:path h="548645" w="2442746">
                  <a:moveTo>
                    <a:pt x="25042" y="0"/>
                  </a:moveTo>
                  <a:lnTo>
                    <a:pt x="2417704" y="0"/>
                  </a:lnTo>
                  <a:cubicBezTo>
                    <a:pt x="2431534" y="0"/>
                    <a:pt x="2442746" y="11212"/>
                    <a:pt x="2442746" y="25042"/>
                  </a:cubicBezTo>
                  <a:lnTo>
                    <a:pt x="2442746" y="523603"/>
                  </a:lnTo>
                  <a:cubicBezTo>
                    <a:pt x="2442746" y="530244"/>
                    <a:pt x="2440107" y="536614"/>
                    <a:pt x="2435411" y="541310"/>
                  </a:cubicBezTo>
                  <a:cubicBezTo>
                    <a:pt x="2430715" y="546006"/>
                    <a:pt x="2424345" y="548645"/>
                    <a:pt x="2417704" y="548645"/>
                  </a:cubicBezTo>
                  <a:lnTo>
                    <a:pt x="25042" y="548645"/>
                  </a:lnTo>
                  <a:cubicBezTo>
                    <a:pt x="18400" y="548645"/>
                    <a:pt x="12031" y="546006"/>
                    <a:pt x="7335" y="541310"/>
                  </a:cubicBezTo>
                  <a:cubicBezTo>
                    <a:pt x="2638" y="536614"/>
                    <a:pt x="0" y="530244"/>
                    <a:pt x="0" y="523603"/>
                  </a:cubicBezTo>
                  <a:lnTo>
                    <a:pt x="0" y="25042"/>
                  </a:lnTo>
                  <a:cubicBezTo>
                    <a:pt x="0" y="18400"/>
                    <a:pt x="2638" y="12031"/>
                    <a:pt x="7335" y="7335"/>
                  </a:cubicBezTo>
                  <a:cubicBezTo>
                    <a:pt x="12031" y="2638"/>
                    <a:pt x="18400" y="0"/>
                    <a:pt x="25042" y="0"/>
                  </a:cubicBezTo>
                  <a:close/>
                </a:path>
              </a:pathLst>
            </a:custGeom>
            <a:solidFill>
              <a:srgbClr val="101D56"/>
            </a:solidFill>
          </p:spPr>
        </p:sp>
        <p:sp>
          <p:nvSpPr>
            <p:cNvPr name="TextBox 8" id="8"/>
            <p:cNvSpPr txBox="true"/>
            <p:nvPr/>
          </p:nvSpPr>
          <p:spPr>
            <a:xfrm>
              <a:off x="0" y="-47625"/>
              <a:ext cx="2442746" cy="596270"/>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12506585" y="1028700"/>
            <a:ext cx="5781415" cy="7895284"/>
            <a:chOff x="0" y="0"/>
            <a:chExt cx="1522677" cy="2079416"/>
          </a:xfrm>
        </p:grpSpPr>
        <p:sp>
          <p:nvSpPr>
            <p:cNvPr name="Freeform 10" id="10"/>
            <p:cNvSpPr/>
            <p:nvPr/>
          </p:nvSpPr>
          <p:spPr>
            <a:xfrm flipH="false" flipV="false" rot="0">
              <a:off x="0" y="0"/>
              <a:ext cx="1522677" cy="2079416"/>
            </a:xfrm>
            <a:custGeom>
              <a:avLst/>
              <a:gdLst/>
              <a:ahLst/>
              <a:cxnLst/>
              <a:rect r="r" b="b" t="t" l="l"/>
              <a:pathLst>
                <a:path h="2079416" w="1522677">
                  <a:moveTo>
                    <a:pt x="45530" y="0"/>
                  </a:moveTo>
                  <a:lnTo>
                    <a:pt x="1477148" y="0"/>
                  </a:lnTo>
                  <a:cubicBezTo>
                    <a:pt x="1489223" y="0"/>
                    <a:pt x="1500804" y="4797"/>
                    <a:pt x="1509342" y="13335"/>
                  </a:cubicBezTo>
                  <a:cubicBezTo>
                    <a:pt x="1517881" y="21874"/>
                    <a:pt x="1522677" y="33454"/>
                    <a:pt x="1522677" y="45530"/>
                  </a:cubicBezTo>
                  <a:lnTo>
                    <a:pt x="1522677" y="2033887"/>
                  </a:lnTo>
                  <a:cubicBezTo>
                    <a:pt x="1522677" y="2059032"/>
                    <a:pt x="1502293" y="2079416"/>
                    <a:pt x="1477148" y="2079416"/>
                  </a:cubicBezTo>
                  <a:lnTo>
                    <a:pt x="45530" y="2079416"/>
                  </a:lnTo>
                  <a:cubicBezTo>
                    <a:pt x="33454" y="2079416"/>
                    <a:pt x="21874" y="2074619"/>
                    <a:pt x="13335" y="2066081"/>
                  </a:cubicBezTo>
                  <a:cubicBezTo>
                    <a:pt x="4797" y="2057543"/>
                    <a:pt x="0" y="2045962"/>
                    <a:pt x="0" y="2033887"/>
                  </a:cubicBezTo>
                  <a:lnTo>
                    <a:pt x="0" y="45530"/>
                  </a:lnTo>
                  <a:cubicBezTo>
                    <a:pt x="0" y="33454"/>
                    <a:pt x="4797" y="21874"/>
                    <a:pt x="13335" y="13335"/>
                  </a:cubicBezTo>
                  <a:cubicBezTo>
                    <a:pt x="21874" y="4797"/>
                    <a:pt x="33454" y="0"/>
                    <a:pt x="45530" y="0"/>
                  </a:cubicBezTo>
                  <a:close/>
                </a:path>
              </a:pathLst>
            </a:custGeom>
            <a:solidFill>
              <a:srgbClr val="101D56"/>
            </a:solidFill>
          </p:spPr>
        </p:sp>
        <p:sp>
          <p:nvSpPr>
            <p:cNvPr name="TextBox 11" id="11"/>
            <p:cNvSpPr txBox="true"/>
            <p:nvPr/>
          </p:nvSpPr>
          <p:spPr>
            <a:xfrm>
              <a:off x="0" y="-47625"/>
              <a:ext cx="1522677" cy="2127041"/>
            </a:xfrm>
            <a:prstGeom prst="rect">
              <a:avLst/>
            </a:prstGeom>
          </p:spPr>
          <p:txBody>
            <a:bodyPr anchor="ctr" rtlCol="false" tIns="50800" lIns="50800" bIns="50800" rIns="50800"/>
            <a:lstStyle/>
            <a:p>
              <a:pPr algn="ctr">
                <a:lnSpc>
                  <a:spcPts val="3499"/>
                </a:lnSpc>
              </a:pPr>
            </a:p>
          </p:txBody>
        </p:sp>
      </p:grpSp>
      <p:sp>
        <p:nvSpPr>
          <p:cNvPr name="Freeform 12" id="12"/>
          <p:cNvSpPr/>
          <p:nvPr/>
        </p:nvSpPr>
        <p:spPr>
          <a:xfrm flipH="false" flipV="false" rot="0">
            <a:off x="12726247" y="2814005"/>
            <a:ext cx="5342090" cy="5465054"/>
          </a:xfrm>
          <a:custGeom>
            <a:avLst/>
            <a:gdLst/>
            <a:ahLst/>
            <a:cxnLst/>
            <a:rect r="r" b="b" t="t" l="l"/>
            <a:pathLst>
              <a:path h="5465054" w="5342090">
                <a:moveTo>
                  <a:pt x="0" y="0"/>
                </a:moveTo>
                <a:lnTo>
                  <a:pt x="5342090" y="0"/>
                </a:lnTo>
                <a:lnTo>
                  <a:pt x="5342090" y="5465054"/>
                </a:lnTo>
                <a:lnTo>
                  <a:pt x="0" y="54650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501614" y="962025"/>
            <a:ext cx="4678674" cy="601980"/>
          </a:xfrm>
          <a:prstGeom prst="rect">
            <a:avLst/>
          </a:prstGeom>
        </p:spPr>
        <p:txBody>
          <a:bodyPr anchor="t" rtlCol="false" tIns="0" lIns="0" bIns="0" rIns="0">
            <a:spAutoFit/>
          </a:bodyPr>
          <a:lstStyle/>
          <a:p>
            <a:pPr algn="l">
              <a:lnSpc>
                <a:spcPts val="4620"/>
              </a:lnSpc>
            </a:pPr>
            <a:r>
              <a:rPr lang="en-US" sz="3300" b="true">
                <a:solidFill>
                  <a:srgbClr val="101D56"/>
                </a:solidFill>
                <a:latin typeface="Helvetica World Bold"/>
                <a:ea typeface="Helvetica World Bold"/>
                <a:cs typeface="Helvetica World Bold"/>
                <a:sym typeface="Helvetica World Bold"/>
              </a:rPr>
              <a:t>B. FOKUS PENELITIAN</a:t>
            </a:r>
          </a:p>
        </p:txBody>
      </p:sp>
      <p:sp>
        <p:nvSpPr>
          <p:cNvPr name="TextBox 14" id="14"/>
          <p:cNvSpPr txBox="true"/>
          <p:nvPr/>
        </p:nvSpPr>
        <p:spPr>
          <a:xfrm rot="0">
            <a:off x="501614" y="1687783"/>
            <a:ext cx="11669850" cy="2846070"/>
          </a:xfrm>
          <a:prstGeom prst="rect">
            <a:avLst/>
          </a:prstGeom>
        </p:spPr>
        <p:txBody>
          <a:bodyPr anchor="t" rtlCol="false" tIns="0" lIns="0" bIns="0" rIns="0">
            <a:spAutoFit/>
          </a:bodyPr>
          <a:lstStyle/>
          <a:p>
            <a:pPr algn="l">
              <a:lnSpc>
                <a:spcPts val="3779"/>
              </a:lnSpc>
            </a:pPr>
            <a:r>
              <a:rPr lang="en-US" sz="2700">
                <a:solidFill>
                  <a:srgbClr val="000000"/>
                </a:solidFill>
                <a:latin typeface="Archivo Black"/>
                <a:ea typeface="Archivo Black"/>
                <a:cs typeface="Archivo Black"/>
                <a:sym typeface="Archivo Black"/>
              </a:rPr>
              <a:t>Agar penelitian ini lebih terfokus dan mengingat keterbatasan</a:t>
            </a:r>
          </a:p>
          <a:p>
            <a:pPr algn="l">
              <a:lnSpc>
                <a:spcPts val="3779"/>
              </a:lnSpc>
            </a:pPr>
            <a:r>
              <a:rPr lang="en-US" sz="2700">
                <a:solidFill>
                  <a:srgbClr val="000000"/>
                </a:solidFill>
                <a:latin typeface="Archivo Black"/>
                <a:ea typeface="Archivo Black"/>
                <a:cs typeface="Archivo Black"/>
                <a:sym typeface="Archivo Black"/>
              </a:rPr>
              <a:t>waktu, tenaga, dan referensi yang mendukung, maka penulis akan membatasi focus penelitian yang akan diteliti dengan judul “Strategi guru PAI dalam pembinaan pola Interaksi sosial siswa di kelas 5 SDN 02 sialang, Kecamatan kapur IX, kabupaten lima puluh kota”.</a:t>
            </a:r>
          </a:p>
        </p:txBody>
      </p:sp>
      <p:sp>
        <p:nvSpPr>
          <p:cNvPr name="TextBox 15" id="15"/>
          <p:cNvSpPr txBox="true"/>
          <p:nvPr/>
        </p:nvSpPr>
        <p:spPr>
          <a:xfrm rot="0">
            <a:off x="2272443" y="4789758"/>
            <a:ext cx="6871557" cy="696595"/>
          </a:xfrm>
          <a:prstGeom prst="rect">
            <a:avLst/>
          </a:prstGeom>
        </p:spPr>
        <p:txBody>
          <a:bodyPr anchor="t" rtlCol="false" tIns="0" lIns="0" bIns="0" rIns="0">
            <a:spAutoFit/>
          </a:bodyPr>
          <a:lstStyle/>
          <a:p>
            <a:pPr algn="l">
              <a:lnSpc>
                <a:spcPts val="5179"/>
              </a:lnSpc>
            </a:pPr>
            <a:r>
              <a:rPr lang="en-US" sz="3699" b="true">
                <a:solidFill>
                  <a:srgbClr val="101D56"/>
                </a:solidFill>
                <a:latin typeface="Helvetica World Bold"/>
                <a:ea typeface="Helvetica World Bold"/>
                <a:cs typeface="Helvetica World Bold"/>
                <a:sym typeface="Helvetica World Bold"/>
              </a:rPr>
              <a:t>C. PERTANYAAN PENELITIAN</a:t>
            </a:r>
          </a:p>
        </p:txBody>
      </p:sp>
      <p:sp>
        <p:nvSpPr>
          <p:cNvPr name="TextBox 16" id="16"/>
          <p:cNvSpPr txBox="true"/>
          <p:nvPr/>
        </p:nvSpPr>
        <p:spPr>
          <a:xfrm rot="0">
            <a:off x="2272443" y="5664080"/>
            <a:ext cx="9134510" cy="941070"/>
          </a:xfrm>
          <a:prstGeom prst="rect">
            <a:avLst/>
          </a:prstGeom>
        </p:spPr>
        <p:txBody>
          <a:bodyPr anchor="t" rtlCol="false" tIns="0" lIns="0" bIns="0" rIns="0">
            <a:spAutoFit/>
          </a:bodyPr>
          <a:lstStyle/>
          <a:p>
            <a:pPr algn="l" marL="582930" indent="-291465" lvl="1">
              <a:lnSpc>
                <a:spcPts val="3779"/>
              </a:lnSpc>
              <a:buFont typeface="Arial"/>
              <a:buChar char="•"/>
            </a:pPr>
            <a:r>
              <a:rPr lang="en-US" sz="2700">
                <a:solidFill>
                  <a:srgbClr val="000000"/>
                </a:solidFill>
                <a:latin typeface="Archivo Black"/>
                <a:ea typeface="Archivo Black"/>
                <a:cs typeface="Archivo Black"/>
                <a:sym typeface="Archivo Black"/>
              </a:rPr>
              <a:t>Bagaimana Strategi guru PAI dalam pembinaan  pola interaksi sosial siswa</a:t>
            </a:r>
          </a:p>
        </p:txBody>
      </p:sp>
      <p:sp>
        <p:nvSpPr>
          <p:cNvPr name="TextBox 17" id="17"/>
          <p:cNvSpPr txBox="true"/>
          <p:nvPr/>
        </p:nvSpPr>
        <p:spPr>
          <a:xfrm rot="0">
            <a:off x="2272443" y="6773352"/>
            <a:ext cx="9134510" cy="1372235"/>
          </a:xfrm>
          <a:prstGeom prst="rect">
            <a:avLst/>
          </a:prstGeom>
        </p:spPr>
        <p:txBody>
          <a:bodyPr anchor="t" rtlCol="false" tIns="0" lIns="0" bIns="0" rIns="0">
            <a:spAutoFit/>
          </a:bodyPr>
          <a:lstStyle/>
          <a:p>
            <a:pPr algn="l" marL="561341" indent="-280670" lvl="1">
              <a:lnSpc>
                <a:spcPts val="3640"/>
              </a:lnSpc>
              <a:buFont typeface="Arial"/>
              <a:buChar char="•"/>
            </a:pPr>
            <a:r>
              <a:rPr lang="en-US" sz="2600">
                <a:solidFill>
                  <a:srgbClr val="000000"/>
                </a:solidFill>
                <a:latin typeface="Archivo Black"/>
                <a:ea typeface="Archivo Black"/>
                <a:cs typeface="Archivo Black"/>
                <a:sym typeface="Archivo Black"/>
              </a:rPr>
              <a:t>faktor apa saja yang menjadi pendukung dan penghambat guru pendidikan agama islam dalam pembinaan pola interaksi sosial siswa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5488883" y="-2744200"/>
            <a:ext cx="12799117" cy="5488400"/>
            <a:chOff x="0" y="0"/>
            <a:chExt cx="3370961" cy="1445505"/>
          </a:xfrm>
        </p:grpSpPr>
        <p:sp>
          <p:nvSpPr>
            <p:cNvPr name="Freeform 4" id="4"/>
            <p:cNvSpPr/>
            <p:nvPr/>
          </p:nvSpPr>
          <p:spPr>
            <a:xfrm flipH="false" flipV="false" rot="0">
              <a:off x="0" y="0"/>
              <a:ext cx="3370961" cy="1445505"/>
            </a:xfrm>
            <a:custGeom>
              <a:avLst/>
              <a:gdLst/>
              <a:ahLst/>
              <a:cxnLst/>
              <a:rect r="r" b="b" t="t" l="l"/>
              <a:pathLst>
                <a:path h="1445505" w="3370961">
                  <a:moveTo>
                    <a:pt x="35083" y="0"/>
                  </a:moveTo>
                  <a:lnTo>
                    <a:pt x="3335878" y="0"/>
                  </a:lnTo>
                  <a:cubicBezTo>
                    <a:pt x="3355254" y="0"/>
                    <a:pt x="3370961" y="15707"/>
                    <a:pt x="3370961" y="35083"/>
                  </a:cubicBezTo>
                  <a:lnTo>
                    <a:pt x="3370961" y="1410421"/>
                  </a:lnTo>
                  <a:cubicBezTo>
                    <a:pt x="3370961" y="1429797"/>
                    <a:pt x="3355254" y="1445505"/>
                    <a:pt x="3335878" y="1445505"/>
                  </a:cubicBezTo>
                  <a:lnTo>
                    <a:pt x="35083" y="1445505"/>
                  </a:lnTo>
                  <a:cubicBezTo>
                    <a:pt x="15707" y="1445505"/>
                    <a:pt x="0" y="1429797"/>
                    <a:pt x="0" y="1410421"/>
                  </a:cubicBezTo>
                  <a:lnTo>
                    <a:pt x="0" y="35083"/>
                  </a:lnTo>
                  <a:cubicBezTo>
                    <a:pt x="0" y="15707"/>
                    <a:pt x="15707" y="0"/>
                    <a:pt x="35083" y="0"/>
                  </a:cubicBezTo>
                  <a:close/>
                </a:path>
              </a:pathLst>
            </a:custGeom>
            <a:solidFill>
              <a:srgbClr val="101D56"/>
            </a:solidFill>
          </p:spPr>
        </p:sp>
        <p:sp>
          <p:nvSpPr>
            <p:cNvPr name="TextBox 5" id="5"/>
            <p:cNvSpPr txBox="true"/>
            <p:nvPr/>
          </p:nvSpPr>
          <p:spPr>
            <a:xfrm>
              <a:off x="0" y="-47625"/>
              <a:ext cx="3370961" cy="1493130"/>
            </a:xfrm>
            <a:prstGeom prst="rect">
              <a:avLst/>
            </a:prstGeom>
          </p:spPr>
          <p:txBody>
            <a:bodyPr anchor="ctr" rtlCol="false" tIns="50800" lIns="50800" bIns="50800" rIns="50800"/>
            <a:lstStyle/>
            <a:p>
              <a:pPr algn="ctr">
                <a:lnSpc>
                  <a:spcPts val="3499"/>
                </a:lnSpc>
              </a:pPr>
            </a:p>
          </p:txBody>
        </p:sp>
      </p:grpSp>
      <p:sp>
        <p:nvSpPr>
          <p:cNvPr name="Freeform 6" id="6"/>
          <p:cNvSpPr/>
          <p:nvPr/>
        </p:nvSpPr>
        <p:spPr>
          <a:xfrm flipH="false" flipV="false" rot="0">
            <a:off x="15674336" y="0"/>
            <a:ext cx="2613664" cy="2585152"/>
          </a:xfrm>
          <a:custGeom>
            <a:avLst/>
            <a:gdLst/>
            <a:ahLst/>
            <a:cxnLst/>
            <a:rect r="r" b="b" t="t" l="l"/>
            <a:pathLst>
              <a:path h="2585152" w="2613664">
                <a:moveTo>
                  <a:pt x="0" y="0"/>
                </a:moveTo>
                <a:lnTo>
                  <a:pt x="2613664" y="0"/>
                </a:lnTo>
                <a:lnTo>
                  <a:pt x="2613664" y="2585152"/>
                </a:lnTo>
                <a:lnTo>
                  <a:pt x="0" y="2585152"/>
                </a:lnTo>
                <a:lnTo>
                  <a:pt x="0" y="0"/>
                </a:lnTo>
                <a:close/>
              </a:path>
            </a:pathLst>
          </a:custGeom>
          <a:blipFill>
            <a:blip r:embed="rId3">
              <a:alphaModFix amt="7999"/>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224257" y="591853"/>
            <a:ext cx="10033465" cy="1258570"/>
          </a:xfrm>
          <a:prstGeom prst="rect">
            <a:avLst/>
          </a:prstGeom>
        </p:spPr>
        <p:txBody>
          <a:bodyPr anchor="t" rtlCol="false" tIns="0" lIns="0" bIns="0" rIns="0">
            <a:spAutoFit/>
          </a:bodyPr>
          <a:lstStyle/>
          <a:p>
            <a:pPr algn="ctr">
              <a:lnSpc>
                <a:spcPts val="9379"/>
              </a:lnSpc>
            </a:pPr>
            <a:r>
              <a:rPr lang="en-US" b="true" sz="6699">
                <a:solidFill>
                  <a:srgbClr val="FFFFFF"/>
                </a:solidFill>
                <a:latin typeface="Helvetica World Bold"/>
                <a:ea typeface="Helvetica World Bold"/>
                <a:cs typeface="Helvetica World Bold"/>
                <a:sym typeface="Helvetica World Bold"/>
              </a:rPr>
              <a:t>D. TUJUAN PENELITIAN</a:t>
            </a:r>
          </a:p>
        </p:txBody>
      </p:sp>
      <p:sp>
        <p:nvSpPr>
          <p:cNvPr name="TextBox 8" id="8"/>
          <p:cNvSpPr txBox="true"/>
          <p:nvPr/>
        </p:nvSpPr>
        <p:spPr>
          <a:xfrm rot="0">
            <a:off x="1044714" y="3925453"/>
            <a:ext cx="16214586" cy="3703320"/>
          </a:xfrm>
          <a:prstGeom prst="rect">
            <a:avLst/>
          </a:prstGeom>
        </p:spPr>
        <p:txBody>
          <a:bodyPr anchor="t" rtlCol="false" tIns="0" lIns="0" bIns="0" rIns="0">
            <a:spAutoFit/>
          </a:bodyPr>
          <a:lstStyle/>
          <a:p>
            <a:pPr algn="l" marL="906780" indent="-453390" lvl="1">
              <a:lnSpc>
                <a:spcPts val="5880"/>
              </a:lnSpc>
              <a:buAutoNum type="arabicPeriod" startAt="1"/>
            </a:pPr>
            <a:r>
              <a:rPr lang="en-US" sz="4200">
                <a:solidFill>
                  <a:srgbClr val="000000"/>
                </a:solidFill>
                <a:latin typeface="Archivo Black"/>
                <a:ea typeface="Archivo Black"/>
                <a:cs typeface="Archivo Black"/>
                <a:sym typeface="Archivo Black"/>
              </a:rPr>
              <a:t>Untuk mengetahui strategi guru Pendidikan agama islah dalam pembinaan pola Interaksi sosial siswa.</a:t>
            </a:r>
          </a:p>
          <a:p>
            <a:pPr algn="l" marL="906780" indent="-453390" lvl="1">
              <a:lnSpc>
                <a:spcPts val="5880"/>
              </a:lnSpc>
              <a:buAutoNum type="arabicPeriod" startAt="1"/>
            </a:pPr>
            <a:r>
              <a:rPr lang="en-US" sz="4200">
                <a:solidFill>
                  <a:srgbClr val="000000"/>
                </a:solidFill>
                <a:latin typeface="Archivo Black"/>
                <a:ea typeface="Archivo Black"/>
                <a:cs typeface="Archivo Black"/>
                <a:sym typeface="Archivo Black"/>
              </a:rPr>
              <a:t>Untuk mengetahui Factor yang menjadi pendukung dan penghambat guru pendidikan agama islam dalam pembinaan pola Interaksi sosial siswa.</a:t>
            </a:r>
          </a:p>
        </p:txBody>
      </p:sp>
      <p:grpSp>
        <p:nvGrpSpPr>
          <p:cNvPr name="Group 9" id="9"/>
          <p:cNvGrpSpPr/>
          <p:nvPr/>
        </p:nvGrpSpPr>
        <p:grpSpPr>
          <a:xfrm rot="0">
            <a:off x="-130800" y="9048747"/>
            <a:ext cx="13296245" cy="2833443"/>
            <a:chOff x="0" y="0"/>
            <a:chExt cx="3501892" cy="746256"/>
          </a:xfrm>
        </p:grpSpPr>
        <p:sp>
          <p:nvSpPr>
            <p:cNvPr name="Freeform 10" id="10"/>
            <p:cNvSpPr/>
            <p:nvPr/>
          </p:nvSpPr>
          <p:spPr>
            <a:xfrm flipH="false" flipV="false" rot="0">
              <a:off x="0" y="0"/>
              <a:ext cx="3501892" cy="746256"/>
            </a:xfrm>
            <a:custGeom>
              <a:avLst/>
              <a:gdLst/>
              <a:ahLst/>
              <a:cxnLst/>
              <a:rect r="r" b="b" t="t" l="l"/>
              <a:pathLst>
                <a:path h="746256" w="3501892">
                  <a:moveTo>
                    <a:pt x="17468" y="0"/>
                  </a:moveTo>
                  <a:lnTo>
                    <a:pt x="3484424" y="0"/>
                  </a:lnTo>
                  <a:cubicBezTo>
                    <a:pt x="3494071" y="0"/>
                    <a:pt x="3501892" y="7821"/>
                    <a:pt x="3501892" y="17468"/>
                  </a:cubicBezTo>
                  <a:lnTo>
                    <a:pt x="3501892" y="728789"/>
                  </a:lnTo>
                  <a:cubicBezTo>
                    <a:pt x="3501892" y="733421"/>
                    <a:pt x="3500051" y="737864"/>
                    <a:pt x="3496775" y="741140"/>
                  </a:cubicBezTo>
                  <a:cubicBezTo>
                    <a:pt x="3493500" y="744416"/>
                    <a:pt x="3489056" y="746256"/>
                    <a:pt x="3484424" y="746256"/>
                  </a:cubicBezTo>
                  <a:lnTo>
                    <a:pt x="17468" y="746256"/>
                  </a:lnTo>
                  <a:cubicBezTo>
                    <a:pt x="7821" y="746256"/>
                    <a:pt x="0" y="738436"/>
                    <a:pt x="0" y="728789"/>
                  </a:cubicBezTo>
                  <a:lnTo>
                    <a:pt x="0" y="17468"/>
                  </a:lnTo>
                  <a:cubicBezTo>
                    <a:pt x="0" y="12835"/>
                    <a:pt x="1840" y="8392"/>
                    <a:pt x="5116" y="5116"/>
                  </a:cubicBezTo>
                  <a:cubicBezTo>
                    <a:pt x="8392" y="1840"/>
                    <a:pt x="12835" y="0"/>
                    <a:pt x="17468" y="0"/>
                  </a:cubicBezTo>
                  <a:close/>
                </a:path>
              </a:pathLst>
            </a:custGeom>
            <a:solidFill>
              <a:srgbClr val="101D56"/>
            </a:solidFill>
          </p:spPr>
        </p:sp>
        <p:sp>
          <p:nvSpPr>
            <p:cNvPr name="TextBox 11" id="11"/>
            <p:cNvSpPr txBox="true"/>
            <p:nvPr/>
          </p:nvSpPr>
          <p:spPr>
            <a:xfrm>
              <a:off x="0" y="-47625"/>
              <a:ext cx="3501892" cy="793881"/>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6542402" y="0"/>
            <a:ext cx="12799117" cy="3197118"/>
            <a:chOff x="0" y="0"/>
            <a:chExt cx="3370961" cy="842039"/>
          </a:xfrm>
        </p:grpSpPr>
        <p:sp>
          <p:nvSpPr>
            <p:cNvPr name="Freeform 4" id="4"/>
            <p:cNvSpPr/>
            <p:nvPr/>
          </p:nvSpPr>
          <p:spPr>
            <a:xfrm flipH="false" flipV="false" rot="0">
              <a:off x="0" y="0"/>
              <a:ext cx="3370961" cy="842039"/>
            </a:xfrm>
            <a:custGeom>
              <a:avLst/>
              <a:gdLst/>
              <a:ahLst/>
              <a:cxnLst/>
              <a:rect r="r" b="b" t="t" l="l"/>
              <a:pathLst>
                <a:path h="842039" w="3370961">
                  <a:moveTo>
                    <a:pt x="35083" y="0"/>
                  </a:moveTo>
                  <a:lnTo>
                    <a:pt x="3335878" y="0"/>
                  </a:lnTo>
                  <a:cubicBezTo>
                    <a:pt x="3355254" y="0"/>
                    <a:pt x="3370961" y="15707"/>
                    <a:pt x="3370961" y="35083"/>
                  </a:cubicBezTo>
                  <a:lnTo>
                    <a:pt x="3370961" y="806956"/>
                  </a:lnTo>
                  <a:cubicBezTo>
                    <a:pt x="3370961" y="826332"/>
                    <a:pt x="3355254" y="842039"/>
                    <a:pt x="3335878" y="842039"/>
                  </a:cubicBezTo>
                  <a:lnTo>
                    <a:pt x="35083" y="842039"/>
                  </a:lnTo>
                  <a:cubicBezTo>
                    <a:pt x="15707" y="842039"/>
                    <a:pt x="0" y="826332"/>
                    <a:pt x="0" y="806956"/>
                  </a:cubicBezTo>
                  <a:lnTo>
                    <a:pt x="0" y="35083"/>
                  </a:lnTo>
                  <a:cubicBezTo>
                    <a:pt x="0" y="15707"/>
                    <a:pt x="15707" y="0"/>
                    <a:pt x="35083" y="0"/>
                  </a:cubicBezTo>
                  <a:close/>
                </a:path>
              </a:pathLst>
            </a:custGeom>
            <a:solidFill>
              <a:srgbClr val="101D56"/>
            </a:solidFill>
          </p:spPr>
        </p:sp>
        <p:sp>
          <p:nvSpPr>
            <p:cNvPr name="TextBox 5" id="5"/>
            <p:cNvSpPr txBox="true"/>
            <p:nvPr/>
          </p:nvSpPr>
          <p:spPr>
            <a:xfrm>
              <a:off x="0" y="-47625"/>
              <a:ext cx="3370961" cy="889664"/>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130800" y="-313806"/>
            <a:ext cx="7099795" cy="4207725"/>
            <a:chOff x="0" y="0"/>
            <a:chExt cx="1142578" cy="677154"/>
          </a:xfrm>
        </p:grpSpPr>
        <p:sp>
          <p:nvSpPr>
            <p:cNvPr name="Freeform 7" id="7"/>
            <p:cNvSpPr/>
            <p:nvPr/>
          </p:nvSpPr>
          <p:spPr>
            <a:xfrm flipH="false" flipV="false" rot="0">
              <a:off x="0" y="0"/>
              <a:ext cx="1142578" cy="677154"/>
            </a:xfrm>
            <a:custGeom>
              <a:avLst/>
              <a:gdLst/>
              <a:ahLst/>
              <a:cxnLst/>
              <a:rect r="r" b="b" t="t" l="l"/>
              <a:pathLst>
                <a:path h="677154" w="1142578">
                  <a:moveTo>
                    <a:pt x="25080" y="0"/>
                  </a:moveTo>
                  <a:lnTo>
                    <a:pt x="1117498" y="0"/>
                  </a:lnTo>
                  <a:cubicBezTo>
                    <a:pt x="1124150" y="0"/>
                    <a:pt x="1130529" y="2642"/>
                    <a:pt x="1135232" y="7346"/>
                  </a:cubicBezTo>
                  <a:cubicBezTo>
                    <a:pt x="1139936" y="12049"/>
                    <a:pt x="1142578" y="18429"/>
                    <a:pt x="1142578" y="25080"/>
                  </a:cubicBezTo>
                  <a:lnTo>
                    <a:pt x="1142578" y="652074"/>
                  </a:lnTo>
                  <a:cubicBezTo>
                    <a:pt x="1142578" y="658725"/>
                    <a:pt x="1139936" y="665105"/>
                    <a:pt x="1135232" y="669808"/>
                  </a:cubicBezTo>
                  <a:cubicBezTo>
                    <a:pt x="1130529" y="674512"/>
                    <a:pt x="1124150" y="677154"/>
                    <a:pt x="1117498" y="677154"/>
                  </a:cubicBezTo>
                  <a:lnTo>
                    <a:pt x="25080" y="677154"/>
                  </a:lnTo>
                  <a:cubicBezTo>
                    <a:pt x="18429" y="677154"/>
                    <a:pt x="12049" y="674512"/>
                    <a:pt x="7346" y="669808"/>
                  </a:cubicBezTo>
                  <a:cubicBezTo>
                    <a:pt x="2642" y="665105"/>
                    <a:pt x="0" y="658725"/>
                    <a:pt x="0" y="652074"/>
                  </a:cubicBezTo>
                  <a:lnTo>
                    <a:pt x="0" y="25080"/>
                  </a:lnTo>
                  <a:cubicBezTo>
                    <a:pt x="0" y="18429"/>
                    <a:pt x="2642" y="12049"/>
                    <a:pt x="7346" y="7346"/>
                  </a:cubicBezTo>
                  <a:cubicBezTo>
                    <a:pt x="12049" y="2642"/>
                    <a:pt x="18429" y="0"/>
                    <a:pt x="25080" y="0"/>
                  </a:cubicBezTo>
                  <a:close/>
                </a:path>
              </a:pathLst>
            </a:custGeom>
            <a:blipFill>
              <a:blip r:embed="rId3"/>
              <a:stretch>
                <a:fillRect l="0" t="-6208" r="0" b="-6208"/>
              </a:stretch>
            </a:blipFill>
          </p:spPr>
        </p:sp>
      </p:grpSp>
      <p:sp>
        <p:nvSpPr>
          <p:cNvPr name="Freeform 8" id="8"/>
          <p:cNvSpPr/>
          <p:nvPr/>
        </p:nvSpPr>
        <p:spPr>
          <a:xfrm flipH="false" flipV="false" rot="0">
            <a:off x="15674336" y="0"/>
            <a:ext cx="2613664" cy="2585152"/>
          </a:xfrm>
          <a:custGeom>
            <a:avLst/>
            <a:gdLst/>
            <a:ahLst/>
            <a:cxnLst/>
            <a:rect r="r" b="b" t="t" l="l"/>
            <a:pathLst>
              <a:path h="2585152" w="2613664">
                <a:moveTo>
                  <a:pt x="0" y="0"/>
                </a:moveTo>
                <a:lnTo>
                  <a:pt x="2613664" y="0"/>
                </a:lnTo>
                <a:lnTo>
                  <a:pt x="2613664" y="2585152"/>
                </a:lnTo>
                <a:lnTo>
                  <a:pt x="0" y="2585152"/>
                </a:lnTo>
                <a:lnTo>
                  <a:pt x="0" y="0"/>
                </a:lnTo>
                <a:close/>
              </a:path>
            </a:pathLst>
          </a:custGeom>
          <a:blipFill>
            <a:blip r:embed="rId4">
              <a:alphaModFix amt="7999"/>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7188438" y="1047697"/>
            <a:ext cx="10788954" cy="1189990"/>
          </a:xfrm>
          <a:prstGeom prst="rect">
            <a:avLst/>
          </a:prstGeom>
        </p:spPr>
        <p:txBody>
          <a:bodyPr anchor="t" rtlCol="false" tIns="0" lIns="0" bIns="0" rIns="0">
            <a:spAutoFit/>
          </a:bodyPr>
          <a:lstStyle/>
          <a:p>
            <a:pPr algn="l">
              <a:lnSpc>
                <a:spcPts val="8959"/>
              </a:lnSpc>
            </a:pPr>
            <a:r>
              <a:rPr lang="en-US" sz="6399" b="true">
                <a:solidFill>
                  <a:srgbClr val="FFFFFF"/>
                </a:solidFill>
                <a:latin typeface="Helvetica World Bold"/>
                <a:ea typeface="Helvetica World Bold"/>
                <a:cs typeface="Helvetica World Bold"/>
                <a:sym typeface="Helvetica World Bold"/>
              </a:rPr>
              <a:t>E. MANFAAT PENELITIAN</a:t>
            </a:r>
          </a:p>
        </p:txBody>
      </p:sp>
      <p:grpSp>
        <p:nvGrpSpPr>
          <p:cNvPr name="Group 10" id="10"/>
          <p:cNvGrpSpPr/>
          <p:nvPr/>
        </p:nvGrpSpPr>
        <p:grpSpPr>
          <a:xfrm rot="0">
            <a:off x="9144000" y="9655431"/>
            <a:ext cx="9862115" cy="1686364"/>
            <a:chOff x="0" y="0"/>
            <a:chExt cx="2597430" cy="444145"/>
          </a:xfrm>
        </p:grpSpPr>
        <p:sp>
          <p:nvSpPr>
            <p:cNvPr name="Freeform 11" id="11"/>
            <p:cNvSpPr/>
            <p:nvPr/>
          </p:nvSpPr>
          <p:spPr>
            <a:xfrm flipH="false" flipV="false" rot="0">
              <a:off x="0" y="0"/>
              <a:ext cx="2597429" cy="444145"/>
            </a:xfrm>
            <a:custGeom>
              <a:avLst/>
              <a:gdLst/>
              <a:ahLst/>
              <a:cxnLst/>
              <a:rect r="r" b="b" t="t" l="l"/>
              <a:pathLst>
                <a:path h="444145" w="2597429">
                  <a:moveTo>
                    <a:pt x="23550" y="0"/>
                  </a:moveTo>
                  <a:lnTo>
                    <a:pt x="2573879" y="0"/>
                  </a:lnTo>
                  <a:cubicBezTo>
                    <a:pt x="2586886" y="0"/>
                    <a:pt x="2597429" y="10544"/>
                    <a:pt x="2597429" y="23550"/>
                  </a:cubicBezTo>
                  <a:lnTo>
                    <a:pt x="2597429" y="420595"/>
                  </a:lnTo>
                  <a:cubicBezTo>
                    <a:pt x="2597429" y="426841"/>
                    <a:pt x="2594948" y="432831"/>
                    <a:pt x="2590532" y="437247"/>
                  </a:cubicBezTo>
                  <a:cubicBezTo>
                    <a:pt x="2586115" y="441664"/>
                    <a:pt x="2580125" y="444145"/>
                    <a:pt x="2573879" y="444145"/>
                  </a:cubicBezTo>
                  <a:lnTo>
                    <a:pt x="23550" y="444145"/>
                  </a:lnTo>
                  <a:cubicBezTo>
                    <a:pt x="10544" y="444145"/>
                    <a:pt x="0" y="433601"/>
                    <a:pt x="0" y="420595"/>
                  </a:cubicBezTo>
                  <a:lnTo>
                    <a:pt x="0" y="23550"/>
                  </a:lnTo>
                  <a:cubicBezTo>
                    <a:pt x="0" y="17305"/>
                    <a:pt x="2481" y="11314"/>
                    <a:pt x="6898" y="6898"/>
                  </a:cubicBezTo>
                  <a:cubicBezTo>
                    <a:pt x="11314" y="2481"/>
                    <a:pt x="17305" y="0"/>
                    <a:pt x="23550" y="0"/>
                  </a:cubicBezTo>
                  <a:close/>
                </a:path>
              </a:pathLst>
            </a:custGeom>
            <a:solidFill>
              <a:srgbClr val="101D56"/>
            </a:solidFill>
          </p:spPr>
        </p:sp>
        <p:sp>
          <p:nvSpPr>
            <p:cNvPr name="TextBox 12" id="12"/>
            <p:cNvSpPr txBox="true"/>
            <p:nvPr/>
          </p:nvSpPr>
          <p:spPr>
            <a:xfrm>
              <a:off x="0" y="-47625"/>
              <a:ext cx="2597430" cy="491770"/>
            </a:xfrm>
            <a:prstGeom prst="rect">
              <a:avLst/>
            </a:prstGeom>
          </p:spPr>
          <p:txBody>
            <a:bodyPr anchor="ctr" rtlCol="false" tIns="50800" lIns="50800" bIns="50800" rIns="50800"/>
            <a:lstStyle/>
            <a:p>
              <a:pPr algn="ctr">
                <a:lnSpc>
                  <a:spcPts val="3499"/>
                </a:lnSpc>
              </a:pPr>
            </a:p>
          </p:txBody>
        </p:sp>
      </p:grpSp>
      <p:sp>
        <p:nvSpPr>
          <p:cNvPr name="TextBox 13" id="13"/>
          <p:cNvSpPr txBox="true"/>
          <p:nvPr/>
        </p:nvSpPr>
        <p:spPr>
          <a:xfrm rot="0">
            <a:off x="7188438" y="6167296"/>
            <a:ext cx="10070862" cy="863600"/>
          </a:xfrm>
          <a:prstGeom prst="rect">
            <a:avLst/>
          </a:prstGeom>
        </p:spPr>
        <p:txBody>
          <a:bodyPr anchor="t" rtlCol="false" tIns="0" lIns="0" bIns="0" rIns="0">
            <a:spAutoFit/>
          </a:bodyPr>
          <a:lstStyle/>
          <a:p>
            <a:pPr algn="l">
              <a:lnSpc>
                <a:spcPts val="7000"/>
              </a:lnSpc>
            </a:pPr>
          </a:p>
        </p:txBody>
      </p:sp>
      <p:sp>
        <p:nvSpPr>
          <p:cNvPr name="TextBox 14" id="14"/>
          <p:cNvSpPr txBox="true"/>
          <p:nvPr/>
        </p:nvSpPr>
        <p:spPr>
          <a:xfrm rot="0">
            <a:off x="926118" y="3923724"/>
            <a:ext cx="17051274" cy="7418070"/>
          </a:xfrm>
          <a:prstGeom prst="rect">
            <a:avLst/>
          </a:prstGeom>
        </p:spPr>
        <p:txBody>
          <a:bodyPr anchor="t" rtlCol="false" tIns="0" lIns="0" bIns="0" rIns="0">
            <a:spAutoFit/>
          </a:bodyPr>
          <a:lstStyle/>
          <a:p>
            <a:pPr algn="l" marL="906780" indent="-453390" lvl="1">
              <a:lnSpc>
                <a:spcPts val="5880"/>
              </a:lnSpc>
              <a:buFont typeface="Arial"/>
              <a:buChar char="•"/>
            </a:pPr>
            <a:r>
              <a:rPr lang="en-US" sz="4200">
                <a:solidFill>
                  <a:srgbClr val="000000"/>
                </a:solidFill>
                <a:latin typeface="Archivo Black"/>
                <a:ea typeface="Archivo Black"/>
                <a:cs typeface="Archivo Black"/>
                <a:sym typeface="Archivo Black"/>
              </a:rPr>
              <a:t>Secara Teoritis. </a:t>
            </a:r>
            <a:r>
              <a:rPr lang="en-US" sz="4200">
                <a:solidFill>
                  <a:srgbClr val="000000"/>
                </a:solidFill>
                <a:latin typeface="Archivo Black"/>
                <a:ea typeface="Archivo Black"/>
                <a:cs typeface="Archivo Black"/>
                <a:sym typeface="Archivo Black"/>
              </a:rPr>
              <a:t>Hasil dari penelitian ini dapat dimanfaatkan sebagai informasi dan tambahan pengetahuan mengenai Strategi guru pai dalam pembinaan pola interaksi sosial siswa.</a:t>
            </a:r>
          </a:p>
          <a:p>
            <a:pPr algn="l" marL="906780" indent="-453390" lvl="1">
              <a:lnSpc>
                <a:spcPts val="5880"/>
              </a:lnSpc>
              <a:buFont typeface="Arial"/>
              <a:buChar char="•"/>
            </a:pPr>
            <a:r>
              <a:rPr lang="en-US" sz="4200">
                <a:solidFill>
                  <a:srgbClr val="000000"/>
                </a:solidFill>
                <a:latin typeface="Archivo Black"/>
                <a:ea typeface="Archivo Black"/>
                <a:cs typeface="Archivo Black"/>
                <a:sym typeface="Archivo Black"/>
              </a:rPr>
              <a:t>Secara Praktis</a:t>
            </a:r>
          </a:p>
          <a:p>
            <a:pPr algn="l" marL="906780" indent="-453390" lvl="1">
              <a:lnSpc>
                <a:spcPts val="5880"/>
              </a:lnSpc>
              <a:buFont typeface="Arial"/>
              <a:buChar char="•"/>
            </a:pPr>
            <a:r>
              <a:rPr lang="en-US" sz="4200">
                <a:solidFill>
                  <a:srgbClr val="000000"/>
                </a:solidFill>
                <a:latin typeface="Archivo Black"/>
                <a:ea typeface="Archivo Black"/>
                <a:cs typeface="Archivo Black"/>
                <a:sym typeface="Archivo Black"/>
              </a:rPr>
              <a:t>Bagi peneliti</a:t>
            </a:r>
          </a:p>
          <a:p>
            <a:pPr algn="l" marL="906780" indent="-453390" lvl="1">
              <a:lnSpc>
                <a:spcPts val="5880"/>
              </a:lnSpc>
              <a:buFont typeface="Arial"/>
              <a:buChar char="•"/>
            </a:pPr>
            <a:r>
              <a:rPr lang="en-US" sz="4200">
                <a:solidFill>
                  <a:srgbClr val="000000"/>
                </a:solidFill>
                <a:latin typeface="Archivo Black"/>
                <a:ea typeface="Archivo Black"/>
                <a:cs typeface="Archivo Black"/>
                <a:sym typeface="Archivo Black"/>
              </a:rPr>
              <a:t>Bagi guru</a:t>
            </a:r>
          </a:p>
          <a:p>
            <a:pPr algn="l" marL="906780" indent="-453390" lvl="1">
              <a:lnSpc>
                <a:spcPts val="5880"/>
              </a:lnSpc>
              <a:buFont typeface="Arial"/>
              <a:buChar char="•"/>
            </a:pPr>
            <a:r>
              <a:rPr lang="en-US" sz="4200">
                <a:solidFill>
                  <a:srgbClr val="000000"/>
                </a:solidFill>
                <a:latin typeface="Archivo Black"/>
                <a:ea typeface="Archivo Black"/>
                <a:cs typeface="Archivo Black"/>
                <a:sym typeface="Archivo Black"/>
              </a:rPr>
              <a:t>Bagi siswa</a:t>
            </a:r>
          </a:p>
          <a:p>
            <a:pPr algn="l">
              <a:lnSpc>
                <a:spcPts val="5880"/>
              </a:lnSpc>
            </a:pPr>
          </a:p>
          <a:p>
            <a:pPr algn="l">
              <a:lnSpc>
                <a:spcPts val="588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924115" y="7853111"/>
            <a:ext cx="20136229" cy="3043999"/>
            <a:chOff x="0" y="0"/>
            <a:chExt cx="5303369" cy="801712"/>
          </a:xfrm>
        </p:grpSpPr>
        <p:sp>
          <p:nvSpPr>
            <p:cNvPr name="Freeform 4" id="4"/>
            <p:cNvSpPr/>
            <p:nvPr/>
          </p:nvSpPr>
          <p:spPr>
            <a:xfrm flipH="false" flipV="false" rot="0">
              <a:off x="0" y="0"/>
              <a:ext cx="5303369" cy="801712"/>
            </a:xfrm>
            <a:custGeom>
              <a:avLst/>
              <a:gdLst/>
              <a:ahLst/>
              <a:cxnLst/>
              <a:rect r="r" b="b" t="t" l="l"/>
              <a:pathLst>
                <a:path h="801712" w="5303369">
                  <a:moveTo>
                    <a:pt x="0" y="0"/>
                  </a:moveTo>
                  <a:lnTo>
                    <a:pt x="5303369" y="0"/>
                  </a:lnTo>
                  <a:lnTo>
                    <a:pt x="5303369" y="801712"/>
                  </a:lnTo>
                  <a:lnTo>
                    <a:pt x="0" y="801712"/>
                  </a:lnTo>
                  <a:close/>
                </a:path>
              </a:pathLst>
            </a:custGeom>
            <a:solidFill>
              <a:srgbClr val="101D56"/>
            </a:solidFill>
          </p:spPr>
        </p:sp>
        <p:sp>
          <p:nvSpPr>
            <p:cNvPr name="TextBox 5" id="5"/>
            <p:cNvSpPr txBox="true"/>
            <p:nvPr/>
          </p:nvSpPr>
          <p:spPr>
            <a:xfrm>
              <a:off x="0" y="-47625"/>
              <a:ext cx="5303369" cy="849337"/>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397744" y="1294455"/>
            <a:ext cx="8426088" cy="1163243"/>
            <a:chOff x="0" y="0"/>
            <a:chExt cx="2219217" cy="306369"/>
          </a:xfrm>
        </p:grpSpPr>
        <p:sp>
          <p:nvSpPr>
            <p:cNvPr name="Freeform 7" id="7"/>
            <p:cNvSpPr/>
            <p:nvPr/>
          </p:nvSpPr>
          <p:spPr>
            <a:xfrm flipH="false" flipV="false" rot="0">
              <a:off x="0" y="0"/>
              <a:ext cx="2219217" cy="306369"/>
            </a:xfrm>
            <a:custGeom>
              <a:avLst/>
              <a:gdLst/>
              <a:ahLst/>
              <a:cxnLst/>
              <a:rect r="r" b="b" t="t" l="l"/>
              <a:pathLst>
                <a:path h="306369" w="2219217">
                  <a:moveTo>
                    <a:pt x="20214" y="0"/>
                  </a:moveTo>
                  <a:lnTo>
                    <a:pt x="2199003" y="0"/>
                  </a:lnTo>
                  <a:cubicBezTo>
                    <a:pt x="2204364" y="0"/>
                    <a:pt x="2209505" y="2130"/>
                    <a:pt x="2213296" y="5920"/>
                  </a:cubicBezTo>
                  <a:cubicBezTo>
                    <a:pt x="2217087" y="9711"/>
                    <a:pt x="2219217" y="14853"/>
                    <a:pt x="2219217" y="20214"/>
                  </a:cubicBezTo>
                  <a:lnTo>
                    <a:pt x="2219217" y="286155"/>
                  </a:lnTo>
                  <a:cubicBezTo>
                    <a:pt x="2219217" y="291516"/>
                    <a:pt x="2217087" y="296657"/>
                    <a:pt x="2213296" y="300448"/>
                  </a:cubicBezTo>
                  <a:cubicBezTo>
                    <a:pt x="2209505" y="304239"/>
                    <a:pt x="2204364" y="306369"/>
                    <a:pt x="2199003" y="306369"/>
                  </a:cubicBezTo>
                  <a:lnTo>
                    <a:pt x="20214" y="306369"/>
                  </a:lnTo>
                  <a:cubicBezTo>
                    <a:pt x="14853" y="306369"/>
                    <a:pt x="9711" y="304239"/>
                    <a:pt x="5920" y="300448"/>
                  </a:cubicBezTo>
                  <a:cubicBezTo>
                    <a:pt x="2130" y="296657"/>
                    <a:pt x="0" y="291516"/>
                    <a:pt x="0" y="286155"/>
                  </a:cubicBezTo>
                  <a:lnTo>
                    <a:pt x="0" y="20214"/>
                  </a:lnTo>
                  <a:cubicBezTo>
                    <a:pt x="0" y="14853"/>
                    <a:pt x="2130" y="9711"/>
                    <a:pt x="5920" y="5920"/>
                  </a:cubicBezTo>
                  <a:cubicBezTo>
                    <a:pt x="9711" y="2130"/>
                    <a:pt x="14853" y="0"/>
                    <a:pt x="20214" y="0"/>
                  </a:cubicBezTo>
                  <a:close/>
                </a:path>
              </a:pathLst>
            </a:custGeom>
            <a:solidFill>
              <a:srgbClr val="3A6B95"/>
            </a:solidFill>
          </p:spPr>
        </p:sp>
        <p:sp>
          <p:nvSpPr>
            <p:cNvPr name="TextBox 8" id="8"/>
            <p:cNvSpPr txBox="true"/>
            <p:nvPr/>
          </p:nvSpPr>
          <p:spPr>
            <a:xfrm>
              <a:off x="0" y="-47625"/>
              <a:ext cx="2219217" cy="353994"/>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640337" y="-1218468"/>
            <a:ext cx="18928337" cy="2247168"/>
            <a:chOff x="0" y="0"/>
            <a:chExt cx="4985241" cy="591847"/>
          </a:xfrm>
        </p:grpSpPr>
        <p:sp>
          <p:nvSpPr>
            <p:cNvPr name="Freeform 10" id="10"/>
            <p:cNvSpPr/>
            <p:nvPr/>
          </p:nvSpPr>
          <p:spPr>
            <a:xfrm flipH="false" flipV="false" rot="0">
              <a:off x="0" y="0"/>
              <a:ext cx="4985241" cy="591847"/>
            </a:xfrm>
            <a:custGeom>
              <a:avLst/>
              <a:gdLst/>
              <a:ahLst/>
              <a:cxnLst/>
              <a:rect r="r" b="b" t="t" l="l"/>
              <a:pathLst>
                <a:path h="591847" w="4985241">
                  <a:moveTo>
                    <a:pt x="12270" y="0"/>
                  </a:moveTo>
                  <a:lnTo>
                    <a:pt x="4972971" y="0"/>
                  </a:lnTo>
                  <a:cubicBezTo>
                    <a:pt x="4979748" y="0"/>
                    <a:pt x="4985241" y="5494"/>
                    <a:pt x="4985241" y="12270"/>
                  </a:cubicBezTo>
                  <a:lnTo>
                    <a:pt x="4985241" y="579576"/>
                  </a:lnTo>
                  <a:cubicBezTo>
                    <a:pt x="4985241" y="586353"/>
                    <a:pt x="4979748" y="591847"/>
                    <a:pt x="4972971" y="591847"/>
                  </a:cubicBezTo>
                  <a:lnTo>
                    <a:pt x="12270" y="591847"/>
                  </a:lnTo>
                  <a:cubicBezTo>
                    <a:pt x="5494" y="591847"/>
                    <a:pt x="0" y="586353"/>
                    <a:pt x="0" y="579576"/>
                  </a:cubicBezTo>
                  <a:lnTo>
                    <a:pt x="0" y="12270"/>
                  </a:lnTo>
                  <a:cubicBezTo>
                    <a:pt x="0" y="5494"/>
                    <a:pt x="5494" y="0"/>
                    <a:pt x="12270" y="0"/>
                  </a:cubicBezTo>
                  <a:close/>
                </a:path>
              </a:pathLst>
            </a:custGeom>
            <a:solidFill>
              <a:srgbClr val="101D56"/>
            </a:solidFill>
          </p:spPr>
        </p:sp>
        <p:sp>
          <p:nvSpPr>
            <p:cNvPr name="TextBox 11" id="11"/>
            <p:cNvSpPr txBox="true"/>
            <p:nvPr/>
          </p:nvSpPr>
          <p:spPr>
            <a:xfrm>
              <a:off x="0" y="-47625"/>
              <a:ext cx="4985241" cy="639472"/>
            </a:xfrm>
            <a:prstGeom prst="rect">
              <a:avLst/>
            </a:prstGeom>
          </p:spPr>
          <p:txBody>
            <a:bodyPr anchor="ctr" rtlCol="false" tIns="50800" lIns="50800" bIns="50800" rIns="50800"/>
            <a:lstStyle/>
            <a:p>
              <a:pPr algn="ctr">
                <a:lnSpc>
                  <a:spcPts val="3499"/>
                </a:lnSpc>
              </a:pPr>
            </a:p>
          </p:txBody>
        </p:sp>
      </p:grpSp>
      <p:sp>
        <p:nvSpPr>
          <p:cNvPr name="Freeform 12" id="12"/>
          <p:cNvSpPr/>
          <p:nvPr/>
        </p:nvSpPr>
        <p:spPr>
          <a:xfrm flipH="false" flipV="false" rot="0">
            <a:off x="16554283" y="8460857"/>
            <a:ext cx="1733717" cy="1733717"/>
          </a:xfrm>
          <a:custGeom>
            <a:avLst/>
            <a:gdLst/>
            <a:ahLst/>
            <a:cxnLst/>
            <a:rect r="r" b="b" t="t" l="l"/>
            <a:pathLst>
              <a:path h="1733717" w="1733717">
                <a:moveTo>
                  <a:pt x="0" y="0"/>
                </a:moveTo>
                <a:lnTo>
                  <a:pt x="1733717" y="0"/>
                </a:lnTo>
                <a:lnTo>
                  <a:pt x="1733717" y="1733716"/>
                </a:lnTo>
                <a:lnTo>
                  <a:pt x="0" y="1733716"/>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true" flipV="false" rot="0">
            <a:off x="0" y="8460857"/>
            <a:ext cx="1733717" cy="1733717"/>
          </a:xfrm>
          <a:custGeom>
            <a:avLst/>
            <a:gdLst/>
            <a:ahLst/>
            <a:cxnLst/>
            <a:rect r="r" b="b" t="t" l="l"/>
            <a:pathLst>
              <a:path h="1733717" w="1733717">
                <a:moveTo>
                  <a:pt x="1733717" y="0"/>
                </a:moveTo>
                <a:lnTo>
                  <a:pt x="0" y="0"/>
                </a:lnTo>
                <a:lnTo>
                  <a:pt x="0" y="1733716"/>
                </a:lnTo>
                <a:lnTo>
                  <a:pt x="1733717" y="1733716"/>
                </a:lnTo>
                <a:lnTo>
                  <a:pt x="1733717"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2679728" y="1350766"/>
            <a:ext cx="5608272" cy="6502345"/>
          </a:xfrm>
          <a:custGeom>
            <a:avLst/>
            <a:gdLst/>
            <a:ahLst/>
            <a:cxnLst/>
            <a:rect r="r" b="b" t="t" l="l"/>
            <a:pathLst>
              <a:path h="6502345" w="5608272">
                <a:moveTo>
                  <a:pt x="0" y="0"/>
                </a:moveTo>
                <a:lnTo>
                  <a:pt x="5608272" y="0"/>
                </a:lnTo>
                <a:lnTo>
                  <a:pt x="5608272" y="6502345"/>
                </a:lnTo>
                <a:lnTo>
                  <a:pt x="0" y="6502345"/>
                </a:lnTo>
                <a:lnTo>
                  <a:pt x="0" y="0"/>
                </a:lnTo>
                <a:close/>
              </a:path>
            </a:pathLst>
          </a:custGeom>
          <a:blipFill>
            <a:blip r:embed="rId5"/>
            <a:stretch>
              <a:fillRect l="0" t="0" r="0" b="0"/>
            </a:stretch>
          </a:blipFill>
        </p:spPr>
      </p:sp>
      <p:sp>
        <p:nvSpPr>
          <p:cNvPr name="TextBox 15" id="15"/>
          <p:cNvSpPr txBox="true"/>
          <p:nvPr/>
        </p:nvSpPr>
        <p:spPr>
          <a:xfrm rot="0">
            <a:off x="-1997676" y="1323778"/>
            <a:ext cx="12531743" cy="982345"/>
          </a:xfrm>
          <a:prstGeom prst="rect">
            <a:avLst/>
          </a:prstGeom>
        </p:spPr>
        <p:txBody>
          <a:bodyPr anchor="t" rtlCol="false" tIns="0" lIns="0" bIns="0" rIns="0">
            <a:spAutoFit/>
          </a:bodyPr>
          <a:lstStyle/>
          <a:p>
            <a:pPr algn="ctr">
              <a:lnSpc>
                <a:spcPts val="7279"/>
              </a:lnSpc>
            </a:pPr>
            <a:r>
              <a:rPr lang="en-US" b="true" sz="5199">
                <a:solidFill>
                  <a:srgbClr val="FFFFFF"/>
                </a:solidFill>
                <a:latin typeface="Helvetica World Bold"/>
                <a:ea typeface="Helvetica World Bold"/>
                <a:cs typeface="Helvetica World Bold"/>
                <a:sym typeface="Helvetica World Bold"/>
              </a:rPr>
              <a:t>F. PENJELASAN JUDUL</a:t>
            </a:r>
          </a:p>
        </p:txBody>
      </p:sp>
      <p:sp>
        <p:nvSpPr>
          <p:cNvPr name="TextBox 16" id="16"/>
          <p:cNvSpPr txBox="true"/>
          <p:nvPr/>
        </p:nvSpPr>
        <p:spPr>
          <a:xfrm rot="0">
            <a:off x="7753933" y="5096135"/>
            <a:ext cx="2780134" cy="1294030"/>
          </a:xfrm>
          <a:prstGeom prst="rect">
            <a:avLst/>
          </a:prstGeom>
        </p:spPr>
        <p:txBody>
          <a:bodyPr anchor="t" rtlCol="false" tIns="0" lIns="0" bIns="0" rIns="0">
            <a:spAutoFit/>
          </a:bodyPr>
          <a:lstStyle/>
          <a:p>
            <a:pPr algn="ctr">
              <a:lnSpc>
                <a:spcPts val="3220"/>
              </a:lnSpc>
            </a:pPr>
            <a:r>
              <a:rPr lang="en-US" b="true" sz="2300">
                <a:solidFill>
                  <a:srgbClr val="FFFFFF"/>
                </a:solidFill>
                <a:latin typeface="Helvetica World Bold"/>
                <a:ea typeface="Helvetica World Bold"/>
                <a:cs typeface="Helvetica World Bold"/>
                <a:sym typeface="Helvetica World Bold"/>
              </a:rPr>
              <a:t>EXCELLENCE IN INNOVATION AWARD 2022.</a:t>
            </a:r>
          </a:p>
        </p:txBody>
      </p:sp>
      <p:sp>
        <p:nvSpPr>
          <p:cNvPr name="TextBox 17" id="17"/>
          <p:cNvSpPr txBox="true"/>
          <p:nvPr/>
        </p:nvSpPr>
        <p:spPr>
          <a:xfrm rot="0">
            <a:off x="397744" y="2787490"/>
            <a:ext cx="12852927" cy="4650105"/>
          </a:xfrm>
          <a:prstGeom prst="rect">
            <a:avLst/>
          </a:prstGeom>
        </p:spPr>
        <p:txBody>
          <a:bodyPr anchor="t" rtlCol="false" tIns="0" lIns="0" bIns="0" rIns="0">
            <a:spAutoFit/>
          </a:bodyPr>
          <a:lstStyle/>
          <a:p>
            <a:pPr algn="l">
              <a:lnSpc>
                <a:spcPts val="4620"/>
              </a:lnSpc>
            </a:pPr>
            <a:r>
              <a:rPr lang="en-US" sz="3300">
                <a:solidFill>
                  <a:srgbClr val="000000"/>
                </a:solidFill>
                <a:latin typeface="Archivo Black"/>
                <a:ea typeface="Archivo Black"/>
                <a:cs typeface="Archivo Black"/>
                <a:sym typeface="Archivo Black"/>
              </a:rPr>
              <a:t>Untuk memperoleh gambaran agar terhindar dari kesalah pahaman </a:t>
            </a:r>
            <a:r>
              <a:rPr lang="en-US" sz="3300">
                <a:solidFill>
                  <a:srgbClr val="000000"/>
                </a:solidFill>
                <a:latin typeface="Archivo Black"/>
                <a:ea typeface="Archivo Black"/>
                <a:cs typeface="Archivo Black"/>
                <a:sym typeface="Archivo Black"/>
              </a:rPr>
              <a:t>dan keliruan dalam mengartikan kata-kata yang dimaksud serta mempermudah memahami maksud dari judul penelitian ini yang berjudul</a:t>
            </a:r>
          </a:p>
          <a:p>
            <a:pPr algn="l">
              <a:lnSpc>
                <a:spcPts val="4620"/>
              </a:lnSpc>
            </a:pPr>
            <a:r>
              <a:rPr lang="en-US" sz="3300">
                <a:solidFill>
                  <a:srgbClr val="000000"/>
                </a:solidFill>
                <a:latin typeface="Archivo Black"/>
                <a:ea typeface="Archivo Black"/>
                <a:cs typeface="Archivo Black"/>
                <a:sym typeface="Archivo Black"/>
              </a:rPr>
              <a:t>“Strategi guru pai dalam Pembinaan pola Interaksi sosial siswa di SDN 02 sialang. Kecamatan kapur IX, kabupaten lima puluh kota”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192071" y="-916526"/>
            <a:ext cx="18672141" cy="4716152"/>
            <a:chOff x="0" y="0"/>
            <a:chExt cx="4917766" cy="1242114"/>
          </a:xfrm>
        </p:grpSpPr>
        <p:sp>
          <p:nvSpPr>
            <p:cNvPr name="Freeform 4" id="4"/>
            <p:cNvSpPr/>
            <p:nvPr/>
          </p:nvSpPr>
          <p:spPr>
            <a:xfrm flipH="false" flipV="false" rot="0">
              <a:off x="0" y="0"/>
              <a:ext cx="4917766" cy="1242114"/>
            </a:xfrm>
            <a:custGeom>
              <a:avLst/>
              <a:gdLst/>
              <a:ahLst/>
              <a:cxnLst/>
              <a:rect r="r" b="b" t="t" l="l"/>
              <a:pathLst>
                <a:path h="1242114" w="4917766">
                  <a:moveTo>
                    <a:pt x="0" y="0"/>
                  </a:moveTo>
                  <a:lnTo>
                    <a:pt x="4917766" y="0"/>
                  </a:lnTo>
                  <a:lnTo>
                    <a:pt x="4917766" y="1242114"/>
                  </a:lnTo>
                  <a:lnTo>
                    <a:pt x="0" y="1242114"/>
                  </a:lnTo>
                  <a:close/>
                </a:path>
              </a:pathLst>
            </a:custGeom>
            <a:solidFill>
              <a:srgbClr val="101D56"/>
            </a:solidFill>
          </p:spPr>
        </p:sp>
        <p:sp>
          <p:nvSpPr>
            <p:cNvPr name="TextBox 5" id="5"/>
            <p:cNvSpPr txBox="true"/>
            <p:nvPr/>
          </p:nvSpPr>
          <p:spPr>
            <a:xfrm>
              <a:off x="0" y="-47625"/>
              <a:ext cx="4917766" cy="1289739"/>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1885689" y="235948"/>
            <a:ext cx="5514524" cy="3081543"/>
            <a:chOff x="0" y="0"/>
            <a:chExt cx="994653" cy="555817"/>
          </a:xfrm>
        </p:grpSpPr>
        <p:sp>
          <p:nvSpPr>
            <p:cNvPr name="Freeform 7" id="7"/>
            <p:cNvSpPr/>
            <p:nvPr/>
          </p:nvSpPr>
          <p:spPr>
            <a:xfrm flipH="false" flipV="false" rot="0">
              <a:off x="0" y="0"/>
              <a:ext cx="994653" cy="555817"/>
            </a:xfrm>
            <a:custGeom>
              <a:avLst/>
              <a:gdLst/>
              <a:ahLst/>
              <a:cxnLst/>
              <a:rect r="r" b="b" t="t" l="l"/>
              <a:pathLst>
                <a:path h="555817" w="994653">
                  <a:moveTo>
                    <a:pt x="39310" y="0"/>
                  </a:moveTo>
                  <a:lnTo>
                    <a:pt x="955343" y="0"/>
                  </a:lnTo>
                  <a:cubicBezTo>
                    <a:pt x="965769" y="0"/>
                    <a:pt x="975767" y="4142"/>
                    <a:pt x="983139" y="11514"/>
                  </a:cubicBezTo>
                  <a:cubicBezTo>
                    <a:pt x="990511" y="18885"/>
                    <a:pt x="994653" y="28884"/>
                    <a:pt x="994653" y="39310"/>
                  </a:cubicBezTo>
                  <a:lnTo>
                    <a:pt x="994653" y="516507"/>
                  </a:lnTo>
                  <a:cubicBezTo>
                    <a:pt x="994653" y="538217"/>
                    <a:pt x="977053" y="555817"/>
                    <a:pt x="955343" y="555817"/>
                  </a:cubicBezTo>
                  <a:lnTo>
                    <a:pt x="39310" y="555817"/>
                  </a:lnTo>
                  <a:cubicBezTo>
                    <a:pt x="17600" y="555817"/>
                    <a:pt x="0" y="538217"/>
                    <a:pt x="0" y="516507"/>
                  </a:cubicBezTo>
                  <a:lnTo>
                    <a:pt x="0" y="39310"/>
                  </a:lnTo>
                  <a:cubicBezTo>
                    <a:pt x="0" y="17600"/>
                    <a:pt x="17600" y="0"/>
                    <a:pt x="39310" y="0"/>
                  </a:cubicBezTo>
                  <a:close/>
                </a:path>
              </a:pathLst>
            </a:custGeom>
            <a:blipFill>
              <a:blip r:embed="rId3"/>
              <a:stretch>
                <a:fillRect l="0" t="-9613" r="0" b="-9613"/>
              </a:stretch>
            </a:blipFill>
          </p:spPr>
        </p:sp>
      </p:grpSp>
      <p:grpSp>
        <p:nvGrpSpPr>
          <p:cNvPr name="Group 8" id="8"/>
          <p:cNvGrpSpPr/>
          <p:nvPr/>
        </p:nvGrpSpPr>
        <p:grpSpPr>
          <a:xfrm rot="0">
            <a:off x="12474866" y="235948"/>
            <a:ext cx="5224417" cy="3081543"/>
            <a:chOff x="0" y="0"/>
            <a:chExt cx="942326" cy="555817"/>
          </a:xfrm>
        </p:grpSpPr>
        <p:sp>
          <p:nvSpPr>
            <p:cNvPr name="Freeform 9" id="9"/>
            <p:cNvSpPr/>
            <p:nvPr/>
          </p:nvSpPr>
          <p:spPr>
            <a:xfrm flipH="false" flipV="false" rot="0">
              <a:off x="0" y="0"/>
              <a:ext cx="942326" cy="555817"/>
            </a:xfrm>
            <a:custGeom>
              <a:avLst/>
              <a:gdLst/>
              <a:ahLst/>
              <a:cxnLst/>
              <a:rect r="r" b="b" t="t" l="l"/>
              <a:pathLst>
                <a:path h="555817" w="942326">
                  <a:moveTo>
                    <a:pt x="41492" y="0"/>
                  </a:moveTo>
                  <a:lnTo>
                    <a:pt x="900834" y="0"/>
                  </a:lnTo>
                  <a:cubicBezTo>
                    <a:pt x="923749" y="0"/>
                    <a:pt x="942326" y="18577"/>
                    <a:pt x="942326" y="41492"/>
                  </a:cubicBezTo>
                  <a:lnTo>
                    <a:pt x="942326" y="514324"/>
                  </a:lnTo>
                  <a:cubicBezTo>
                    <a:pt x="942326" y="525329"/>
                    <a:pt x="937955" y="535883"/>
                    <a:pt x="930173" y="543664"/>
                  </a:cubicBezTo>
                  <a:cubicBezTo>
                    <a:pt x="922392" y="551445"/>
                    <a:pt x="911838" y="555817"/>
                    <a:pt x="900834" y="555817"/>
                  </a:cubicBezTo>
                  <a:lnTo>
                    <a:pt x="41492" y="555817"/>
                  </a:lnTo>
                  <a:cubicBezTo>
                    <a:pt x="30488" y="555817"/>
                    <a:pt x="19934" y="551445"/>
                    <a:pt x="12153" y="543664"/>
                  </a:cubicBezTo>
                  <a:cubicBezTo>
                    <a:pt x="4372" y="535883"/>
                    <a:pt x="0" y="525329"/>
                    <a:pt x="0" y="514324"/>
                  </a:cubicBezTo>
                  <a:lnTo>
                    <a:pt x="0" y="41492"/>
                  </a:lnTo>
                  <a:cubicBezTo>
                    <a:pt x="0" y="30488"/>
                    <a:pt x="4372" y="19934"/>
                    <a:pt x="12153" y="12153"/>
                  </a:cubicBezTo>
                  <a:cubicBezTo>
                    <a:pt x="19934" y="4372"/>
                    <a:pt x="30488" y="0"/>
                    <a:pt x="41492" y="0"/>
                  </a:cubicBezTo>
                  <a:close/>
                </a:path>
              </a:pathLst>
            </a:custGeom>
            <a:blipFill>
              <a:blip r:embed="rId4"/>
              <a:stretch>
                <a:fillRect l="0" t="-6513" r="0" b="-6512"/>
              </a:stretch>
            </a:blipFill>
          </p:spPr>
        </p:sp>
      </p:grpSp>
      <p:sp>
        <p:nvSpPr>
          <p:cNvPr name="TextBox 10" id="10"/>
          <p:cNvSpPr txBox="true"/>
          <p:nvPr/>
        </p:nvSpPr>
        <p:spPr>
          <a:xfrm rot="0">
            <a:off x="1883485" y="5086350"/>
            <a:ext cx="15813594" cy="5126990"/>
          </a:xfrm>
          <a:prstGeom prst="rect">
            <a:avLst/>
          </a:prstGeom>
        </p:spPr>
        <p:txBody>
          <a:bodyPr anchor="t" rtlCol="false" tIns="0" lIns="0" bIns="0" rIns="0">
            <a:spAutoFit/>
          </a:bodyPr>
          <a:lstStyle/>
          <a:p>
            <a:pPr algn="l" marL="626111" indent="-313055" lvl="1">
              <a:lnSpc>
                <a:spcPts val="4060"/>
              </a:lnSpc>
              <a:buFont typeface="Arial"/>
              <a:buChar char="•"/>
            </a:pPr>
            <a:r>
              <a:rPr lang="en-US" sz="2900">
                <a:solidFill>
                  <a:srgbClr val="101D56"/>
                </a:solidFill>
                <a:latin typeface="Archivo Black"/>
                <a:ea typeface="Archivo Black"/>
                <a:cs typeface="Archivo Black"/>
                <a:sym typeface="Archivo Black"/>
              </a:rPr>
              <a:t>Bab 1  berisi gambaran secara keseluruhan dari pembahasan proposal, yang terdiri dari Latar Belakang Masalah, Fokus Penelitian, Pertanyaan Penelitian, Tujuan Penelitian, Manfaat Penelitian, Penjelasan Judul serta Sistematika Penulisan.</a:t>
            </a:r>
          </a:p>
          <a:p>
            <a:pPr algn="l" marL="626111" indent="-313055" lvl="1">
              <a:lnSpc>
                <a:spcPts val="4060"/>
              </a:lnSpc>
              <a:buFont typeface="Arial"/>
              <a:buChar char="•"/>
            </a:pPr>
            <a:r>
              <a:rPr lang="en-US" sz="2900">
                <a:solidFill>
                  <a:srgbClr val="101D56"/>
                </a:solidFill>
                <a:latin typeface="Archivo Black"/>
                <a:ea typeface="Archivo Black"/>
                <a:cs typeface="Archivo Black"/>
                <a:sym typeface="Archivo Black"/>
              </a:rPr>
              <a:t>Bab II ini membahas tentang kajian teori secara jelas, yan pada beberapa kajian kepustakaan serta beberapa teori dikemukakan oleh pakar pendidikan, serta </a:t>
            </a:r>
            <a:r>
              <a:rPr lang="en-US" sz="2900">
                <a:solidFill>
                  <a:srgbClr val="101D56"/>
                </a:solidFill>
                <a:latin typeface="Archivo Black"/>
                <a:ea typeface="Archivo Black"/>
                <a:cs typeface="Archivo Black"/>
                <a:sym typeface="Archivo Black"/>
              </a:rPr>
              <a:t>Penelitian yang relevan.</a:t>
            </a:r>
          </a:p>
          <a:p>
            <a:pPr algn="l" marL="626111" indent="-313055" lvl="1">
              <a:lnSpc>
                <a:spcPts val="4060"/>
              </a:lnSpc>
              <a:buFont typeface="Arial"/>
              <a:buChar char="•"/>
            </a:pPr>
            <a:r>
              <a:rPr lang="en-US" sz="2900">
                <a:solidFill>
                  <a:srgbClr val="101D56"/>
                </a:solidFill>
                <a:latin typeface="Archivo Black"/>
                <a:ea typeface="Archivo Black"/>
                <a:cs typeface="Archivo Black"/>
                <a:sym typeface="Archivo Black"/>
              </a:rPr>
              <a:t>Bab III : Bab ini membahas tentang Metode penelitian, tempat dan waktu penelitian, teknik pengumpulan data, teknik keabsahan data danteknik analisis data</a:t>
            </a:r>
          </a:p>
        </p:txBody>
      </p:sp>
      <p:sp>
        <p:nvSpPr>
          <p:cNvPr name="Freeform 11" id="11"/>
          <p:cNvSpPr/>
          <p:nvPr/>
        </p:nvSpPr>
        <p:spPr>
          <a:xfrm flipH="false" flipV="false" rot="0">
            <a:off x="451663" y="235948"/>
            <a:ext cx="1431822" cy="1056628"/>
          </a:xfrm>
          <a:custGeom>
            <a:avLst/>
            <a:gdLst/>
            <a:ahLst/>
            <a:cxnLst/>
            <a:rect r="r" b="b" t="t" l="l"/>
            <a:pathLst>
              <a:path h="1056628" w="1431822">
                <a:moveTo>
                  <a:pt x="0" y="0"/>
                </a:moveTo>
                <a:lnTo>
                  <a:pt x="1431822" y="0"/>
                </a:lnTo>
                <a:lnTo>
                  <a:pt x="1431822" y="1056628"/>
                </a:lnTo>
                <a:lnTo>
                  <a:pt x="0" y="105662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5674336" y="0"/>
            <a:ext cx="2613664" cy="2585152"/>
          </a:xfrm>
          <a:custGeom>
            <a:avLst/>
            <a:gdLst/>
            <a:ahLst/>
            <a:cxnLst/>
            <a:rect r="r" b="b" t="t" l="l"/>
            <a:pathLst>
              <a:path h="2585152" w="2613664">
                <a:moveTo>
                  <a:pt x="0" y="0"/>
                </a:moveTo>
                <a:lnTo>
                  <a:pt x="2613664" y="0"/>
                </a:lnTo>
                <a:lnTo>
                  <a:pt x="2613664" y="2585152"/>
                </a:lnTo>
                <a:lnTo>
                  <a:pt x="0" y="2585152"/>
                </a:lnTo>
                <a:lnTo>
                  <a:pt x="0" y="0"/>
                </a:lnTo>
                <a:close/>
              </a:path>
            </a:pathLst>
          </a:custGeom>
          <a:blipFill>
            <a:blip r:embed="rId7">
              <a:alphaModFix amt="7999"/>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97925" y="3704376"/>
            <a:ext cx="12376941" cy="1699895"/>
          </a:xfrm>
          <a:prstGeom prst="rect">
            <a:avLst/>
          </a:prstGeom>
        </p:spPr>
        <p:txBody>
          <a:bodyPr anchor="t" rtlCol="false" tIns="0" lIns="0" bIns="0" rIns="0">
            <a:spAutoFit/>
          </a:bodyPr>
          <a:lstStyle/>
          <a:p>
            <a:pPr algn="l">
              <a:lnSpc>
                <a:spcPts val="6580"/>
              </a:lnSpc>
            </a:pPr>
            <a:r>
              <a:rPr lang="en-US" sz="4700" b="true">
                <a:solidFill>
                  <a:srgbClr val="101D56"/>
                </a:solidFill>
                <a:latin typeface="Helvetica World Bold"/>
                <a:ea typeface="Helvetica World Bold"/>
                <a:cs typeface="Helvetica World Bold"/>
                <a:sym typeface="Helvetica World Bold"/>
              </a:rPr>
              <a:t>G. SISTEMATIKA PENULISAN</a:t>
            </a:r>
          </a:p>
          <a:p>
            <a:pPr algn="l">
              <a:lnSpc>
                <a:spcPts val="658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12888" t="0" r="-12888" b="0"/>
            </a:stretch>
          </a:blipFill>
        </p:spPr>
      </p:sp>
      <p:grpSp>
        <p:nvGrpSpPr>
          <p:cNvPr name="Group 3" id="3"/>
          <p:cNvGrpSpPr/>
          <p:nvPr/>
        </p:nvGrpSpPr>
        <p:grpSpPr>
          <a:xfrm rot="0">
            <a:off x="4610100" y="0"/>
            <a:ext cx="13677900" cy="9785848"/>
            <a:chOff x="0" y="0"/>
            <a:chExt cx="3602410" cy="2577343"/>
          </a:xfrm>
        </p:grpSpPr>
        <p:sp>
          <p:nvSpPr>
            <p:cNvPr name="Freeform 4" id="4"/>
            <p:cNvSpPr/>
            <p:nvPr/>
          </p:nvSpPr>
          <p:spPr>
            <a:xfrm flipH="false" flipV="false" rot="0">
              <a:off x="0" y="0"/>
              <a:ext cx="3602410" cy="2577343"/>
            </a:xfrm>
            <a:custGeom>
              <a:avLst/>
              <a:gdLst/>
              <a:ahLst/>
              <a:cxnLst/>
              <a:rect r="r" b="b" t="t" l="l"/>
              <a:pathLst>
                <a:path h="2577343" w="3602410">
                  <a:moveTo>
                    <a:pt x="0" y="0"/>
                  </a:moveTo>
                  <a:lnTo>
                    <a:pt x="3602410" y="0"/>
                  </a:lnTo>
                  <a:lnTo>
                    <a:pt x="3602410" y="2577343"/>
                  </a:lnTo>
                  <a:lnTo>
                    <a:pt x="0" y="2577343"/>
                  </a:lnTo>
                  <a:close/>
                </a:path>
              </a:pathLst>
            </a:custGeom>
            <a:solidFill>
              <a:srgbClr val="023059"/>
            </a:solidFill>
          </p:spPr>
        </p:sp>
        <p:sp>
          <p:nvSpPr>
            <p:cNvPr name="TextBox 5" id="5"/>
            <p:cNvSpPr txBox="true"/>
            <p:nvPr/>
          </p:nvSpPr>
          <p:spPr>
            <a:xfrm>
              <a:off x="0" y="-95250"/>
              <a:ext cx="3602410" cy="2672593"/>
            </a:xfrm>
            <a:prstGeom prst="rect">
              <a:avLst/>
            </a:prstGeom>
          </p:spPr>
          <p:txBody>
            <a:bodyPr anchor="ctr" rtlCol="false" tIns="50800" lIns="50800" bIns="50800" rIns="50800"/>
            <a:lstStyle/>
            <a:p>
              <a:pPr algn="ctr">
                <a:lnSpc>
                  <a:spcPts val="3927"/>
                </a:lnSpc>
              </a:pPr>
            </a:p>
          </p:txBody>
        </p:sp>
      </p:grpSp>
      <p:sp>
        <p:nvSpPr>
          <p:cNvPr name="Freeform 6" id="6"/>
          <p:cNvSpPr/>
          <p:nvPr/>
        </p:nvSpPr>
        <p:spPr>
          <a:xfrm flipH="true" flipV="true" rot="-5400000">
            <a:off x="-5968007" y="3945931"/>
            <a:ext cx="10287000" cy="2395139"/>
          </a:xfrm>
          <a:custGeom>
            <a:avLst/>
            <a:gdLst/>
            <a:ahLst/>
            <a:cxnLst/>
            <a:rect r="r" b="b" t="t" l="l"/>
            <a:pathLst>
              <a:path h="2395139" w="10287000">
                <a:moveTo>
                  <a:pt x="10287000" y="2395138"/>
                </a:moveTo>
                <a:lnTo>
                  <a:pt x="0" y="2395138"/>
                </a:lnTo>
                <a:lnTo>
                  <a:pt x="0" y="0"/>
                </a:lnTo>
                <a:lnTo>
                  <a:pt x="10287000" y="0"/>
                </a:lnTo>
                <a:lnTo>
                  <a:pt x="10287000" y="2395138"/>
                </a:lnTo>
                <a:close/>
              </a:path>
            </a:pathLst>
          </a:custGeom>
          <a:blipFill>
            <a:blip r:embed="rId3">
              <a:extLst>
                <a:ext uri="{96DAC541-7B7A-43D3-8B79-37D633B846F1}">
                  <asvg:svgBlip xmlns:asvg="http://schemas.microsoft.com/office/drawing/2016/SVG/main" r:embed="rId4"/>
                </a:ext>
              </a:extLst>
            </a:blip>
            <a:stretch>
              <a:fillRect l="-1026" t="-57958" r="0" b="-958"/>
            </a:stretch>
          </a:blipFill>
        </p:spPr>
      </p:sp>
      <p:sp>
        <p:nvSpPr>
          <p:cNvPr name="Freeform 7" id="7"/>
          <p:cNvSpPr/>
          <p:nvPr/>
        </p:nvSpPr>
        <p:spPr>
          <a:xfrm flipH="false" flipV="false" rot="0">
            <a:off x="14318691" y="1143625"/>
            <a:ext cx="683395" cy="437373"/>
          </a:xfrm>
          <a:custGeom>
            <a:avLst/>
            <a:gdLst/>
            <a:ahLst/>
            <a:cxnLst/>
            <a:rect r="r" b="b" t="t" l="l"/>
            <a:pathLst>
              <a:path h="437373" w="683395">
                <a:moveTo>
                  <a:pt x="0" y="0"/>
                </a:moveTo>
                <a:lnTo>
                  <a:pt x="683395" y="0"/>
                </a:lnTo>
                <a:lnTo>
                  <a:pt x="683395" y="437373"/>
                </a:lnTo>
                <a:lnTo>
                  <a:pt x="0" y="4373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8116663" y="6755358"/>
            <a:ext cx="951137" cy="444437"/>
          </a:xfrm>
          <a:custGeom>
            <a:avLst/>
            <a:gdLst/>
            <a:ahLst/>
            <a:cxnLst/>
            <a:rect r="r" b="b" t="t" l="l"/>
            <a:pathLst>
              <a:path h="444437" w="951137">
                <a:moveTo>
                  <a:pt x="0" y="0"/>
                </a:moveTo>
                <a:lnTo>
                  <a:pt x="951137" y="0"/>
                </a:lnTo>
                <a:lnTo>
                  <a:pt x="951137" y="444436"/>
                </a:lnTo>
                <a:lnTo>
                  <a:pt x="0" y="444436"/>
                </a:lnTo>
                <a:lnTo>
                  <a:pt x="0" y="0"/>
                </a:lnTo>
                <a:close/>
              </a:path>
            </a:pathLst>
          </a:custGeom>
          <a:blipFill>
            <a:blip r:embed="rId7">
              <a:extLst>
                <a:ext uri="{96DAC541-7B7A-43D3-8B79-37D633B846F1}">
                  <asvg:svgBlip xmlns:asvg="http://schemas.microsoft.com/office/drawing/2016/SVG/main" r:embed="rId8"/>
                </a:ext>
              </a:extLst>
            </a:blip>
            <a:stretch>
              <a:fillRect l="0" t="-78900" r="-112980" b="0"/>
            </a:stretch>
          </a:blipFill>
        </p:spPr>
      </p:sp>
      <p:grpSp>
        <p:nvGrpSpPr>
          <p:cNvPr name="Group 9" id="9"/>
          <p:cNvGrpSpPr/>
          <p:nvPr/>
        </p:nvGrpSpPr>
        <p:grpSpPr>
          <a:xfrm rot="0">
            <a:off x="772241" y="0"/>
            <a:ext cx="5084105" cy="8978527"/>
            <a:chOff x="0" y="0"/>
            <a:chExt cx="1183321" cy="2089745"/>
          </a:xfrm>
        </p:grpSpPr>
        <p:sp>
          <p:nvSpPr>
            <p:cNvPr name="Freeform 10" id="10"/>
            <p:cNvSpPr/>
            <p:nvPr/>
          </p:nvSpPr>
          <p:spPr>
            <a:xfrm flipH="true" flipV="false" rot="0">
              <a:off x="0" y="0"/>
              <a:ext cx="1183321" cy="2089745"/>
            </a:xfrm>
            <a:custGeom>
              <a:avLst/>
              <a:gdLst/>
              <a:ahLst/>
              <a:cxnLst/>
              <a:rect r="r" b="b" t="t" l="l"/>
              <a:pathLst>
                <a:path h="2089745" w="1183321">
                  <a:moveTo>
                    <a:pt x="1183321" y="0"/>
                  </a:moveTo>
                  <a:lnTo>
                    <a:pt x="0" y="0"/>
                  </a:lnTo>
                  <a:lnTo>
                    <a:pt x="0" y="2089745"/>
                  </a:lnTo>
                  <a:lnTo>
                    <a:pt x="1183321" y="2089745"/>
                  </a:lnTo>
                  <a:close/>
                </a:path>
              </a:pathLst>
            </a:custGeom>
            <a:blipFill>
              <a:blip r:embed="rId9"/>
              <a:stretch>
                <a:fillRect l="-82532" t="0" r="-82532" b="0"/>
              </a:stretch>
            </a:blipFill>
          </p:spPr>
        </p:sp>
      </p:grpSp>
      <p:sp>
        <p:nvSpPr>
          <p:cNvPr name="Freeform 11" id="11"/>
          <p:cNvSpPr/>
          <p:nvPr/>
        </p:nvSpPr>
        <p:spPr>
          <a:xfrm flipH="false" flipV="false" rot="0">
            <a:off x="15727333" y="2640558"/>
            <a:ext cx="7036308" cy="8229600"/>
          </a:xfrm>
          <a:custGeom>
            <a:avLst/>
            <a:gdLst/>
            <a:ahLst/>
            <a:cxnLst/>
            <a:rect r="r" b="b" t="t" l="l"/>
            <a:pathLst>
              <a:path h="8229600" w="7036308">
                <a:moveTo>
                  <a:pt x="0" y="0"/>
                </a:moveTo>
                <a:lnTo>
                  <a:pt x="7036308" y="0"/>
                </a:lnTo>
                <a:lnTo>
                  <a:pt x="7036308" y="8229600"/>
                </a:lnTo>
                <a:lnTo>
                  <a:pt x="0" y="8229600"/>
                </a:lnTo>
                <a:lnTo>
                  <a:pt x="0" y="0"/>
                </a:lnTo>
                <a:close/>
              </a:path>
            </a:pathLst>
          </a:custGeom>
          <a:blipFill>
            <a:blip r:embed="rId10"/>
            <a:stretch>
              <a:fillRect l="0" t="0" r="0" b="0"/>
            </a:stretch>
          </a:blipFill>
        </p:spPr>
      </p:sp>
      <p:sp>
        <p:nvSpPr>
          <p:cNvPr name="TextBox 12" id="12"/>
          <p:cNvSpPr txBox="true"/>
          <p:nvPr/>
        </p:nvSpPr>
        <p:spPr>
          <a:xfrm rot="0">
            <a:off x="3314293" y="3040312"/>
            <a:ext cx="17221831" cy="3752850"/>
          </a:xfrm>
          <a:prstGeom prst="rect">
            <a:avLst/>
          </a:prstGeom>
        </p:spPr>
        <p:txBody>
          <a:bodyPr anchor="t" rtlCol="false" tIns="0" lIns="0" bIns="0" rIns="0">
            <a:spAutoFit/>
          </a:bodyPr>
          <a:lstStyle/>
          <a:p>
            <a:pPr algn="ctr">
              <a:lnSpc>
                <a:spcPts val="9839"/>
              </a:lnSpc>
            </a:pPr>
            <a:r>
              <a:rPr lang="en-US" b="true" sz="8199">
                <a:solidFill>
                  <a:srgbClr val="FFFFFF"/>
                </a:solidFill>
                <a:latin typeface="League Spartan"/>
                <a:ea typeface="League Spartan"/>
                <a:cs typeface="League Spartan"/>
                <a:sym typeface="League Spartan"/>
              </a:rPr>
              <a:t>BAB II</a:t>
            </a:r>
          </a:p>
          <a:p>
            <a:pPr algn="ctr">
              <a:lnSpc>
                <a:spcPts val="9839"/>
              </a:lnSpc>
            </a:pPr>
            <a:r>
              <a:rPr lang="en-US" b="true" sz="8199">
                <a:solidFill>
                  <a:srgbClr val="FFFFFF"/>
                </a:solidFill>
                <a:latin typeface="League Spartan"/>
                <a:ea typeface="League Spartan"/>
                <a:cs typeface="League Spartan"/>
                <a:sym typeface="League Spartan"/>
              </a:rPr>
              <a:t> LANDASAN TEORI</a:t>
            </a:r>
          </a:p>
          <a:p>
            <a:pPr algn="ctr">
              <a:lnSpc>
                <a:spcPts val="983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192071" y="-916526"/>
            <a:ext cx="18672141" cy="5650034"/>
            <a:chOff x="0" y="0"/>
            <a:chExt cx="4917766" cy="1488075"/>
          </a:xfrm>
        </p:grpSpPr>
        <p:sp>
          <p:nvSpPr>
            <p:cNvPr name="Freeform 4" id="4"/>
            <p:cNvSpPr/>
            <p:nvPr/>
          </p:nvSpPr>
          <p:spPr>
            <a:xfrm flipH="false" flipV="false" rot="0">
              <a:off x="0" y="0"/>
              <a:ext cx="4917766" cy="1488075"/>
            </a:xfrm>
            <a:custGeom>
              <a:avLst/>
              <a:gdLst/>
              <a:ahLst/>
              <a:cxnLst/>
              <a:rect r="r" b="b" t="t" l="l"/>
              <a:pathLst>
                <a:path h="1488075" w="4917766">
                  <a:moveTo>
                    <a:pt x="0" y="0"/>
                  </a:moveTo>
                  <a:lnTo>
                    <a:pt x="4917766" y="0"/>
                  </a:lnTo>
                  <a:lnTo>
                    <a:pt x="4917766" y="1488075"/>
                  </a:lnTo>
                  <a:lnTo>
                    <a:pt x="0" y="1488075"/>
                  </a:lnTo>
                  <a:close/>
                </a:path>
              </a:pathLst>
            </a:custGeom>
            <a:solidFill>
              <a:srgbClr val="101D56"/>
            </a:solidFill>
          </p:spPr>
        </p:sp>
        <p:sp>
          <p:nvSpPr>
            <p:cNvPr name="TextBox 5" id="5"/>
            <p:cNvSpPr txBox="true"/>
            <p:nvPr/>
          </p:nvSpPr>
          <p:spPr>
            <a:xfrm>
              <a:off x="0" y="-47625"/>
              <a:ext cx="4917766" cy="1535700"/>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717023" y="1596581"/>
            <a:ext cx="4506302" cy="2777537"/>
            <a:chOff x="0" y="0"/>
            <a:chExt cx="812800" cy="500983"/>
          </a:xfrm>
        </p:grpSpPr>
        <p:sp>
          <p:nvSpPr>
            <p:cNvPr name="Freeform 7" id="7"/>
            <p:cNvSpPr/>
            <p:nvPr/>
          </p:nvSpPr>
          <p:spPr>
            <a:xfrm flipH="false" flipV="false" rot="0">
              <a:off x="0" y="0"/>
              <a:ext cx="812800" cy="500983"/>
            </a:xfrm>
            <a:custGeom>
              <a:avLst/>
              <a:gdLst/>
              <a:ahLst/>
              <a:cxnLst/>
              <a:rect r="r" b="b" t="t" l="l"/>
              <a:pathLst>
                <a:path h="500983" w="812800">
                  <a:moveTo>
                    <a:pt x="48105" y="0"/>
                  </a:moveTo>
                  <a:lnTo>
                    <a:pt x="764695" y="0"/>
                  </a:lnTo>
                  <a:cubicBezTo>
                    <a:pt x="777454" y="0"/>
                    <a:pt x="789689" y="5068"/>
                    <a:pt x="798711" y="14090"/>
                  </a:cubicBezTo>
                  <a:cubicBezTo>
                    <a:pt x="807732" y="23111"/>
                    <a:pt x="812800" y="35346"/>
                    <a:pt x="812800" y="48105"/>
                  </a:cubicBezTo>
                  <a:lnTo>
                    <a:pt x="812800" y="452879"/>
                  </a:lnTo>
                  <a:cubicBezTo>
                    <a:pt x="812800" y="465637"/>
                    <a:pt x="807732" y="477873"/>
                    <a:pt x="798711" y="486894"/>
                  </a:cubicBezTo>
                  <a:cubicBezTo>
                    <a:pt x="789689" y="495915"/>
                    <a:pt x="777454" y="500983"/>
                    <a:pt x="764695" y="500983"/>
                  </a:cubicBezTo>
                  <a:lnTo>
                    <a:pt x="48105" y="500983"/>
                  </a:lnTo>
                  <a:cubicBezTo>
                    <a:pt x="35346" y="500983"/>
                    <a:pt x="23111" y="495915"/>
                    <a:pt x="14090" y="486894"/>
                  </a:cubicBezTo>
                  <a:cubicBezTo>
                    <a:pt x="5068" y="477873"/>
                    <a:pt x="0" y="465637"/>
                    <a:pt x="0" y="452879"/>
                  </a:cubicBezTo>
                  <a:lnTo>
                    <a:pt x="0" y="48105"/>
                  </a:lnTo>
                  <a:cubicBezTo>
                    <a:pt x="0" y="35346"/>
                    <a:pt x="5068" y="23111"/>
                    <a:pt x="14090" y="14090"/>
                  </a:cubicBezTo>
                  <a:cubicBezTo>
                    <a:pt x="23111" y="5068"/>
                    <a:pt x="35346" y="0"/>
                    <a:pt x="48105" y="0"/>
                  </a:cubicBezTo>
                  <a:close/>
                </a:path>
              </a:pathLst>
            </a:custGeom>
            <a:blipFill>
              <a:blip r:embed="rId3"/>
              <a:stretch>
                <a:fillRect l="0" t="-4046" r="0" b="-4046"/>
              </a:stretch>
            </a:blipFill>
          </p:spPr>
        </p:sp>
      </p:grpSp>
      <p:grpSp>
        <p:nvGrpSpPr>
          <p:cNvPr name="Group 8" id="8"/>
          <p:cNvGrpSpPr/>
          <p:nvPr/>
        </p:nvGrpSpPr>
        <p:grpSpPr>
          <a:xfrm rot="0">
            <a:off x="6594924" y="1955971"/>
            <a:ext cx="4506302" cy="2777537"/>
            <a:chOff x="0" y="0"/>
            <a:chExt cx="812800" cy="500983"/>
          </a:xfrm>
        </p:grpSpPr>
        <p:sp>
          <p:nvSpPr>
            <p:cNvPr name="Freeform 9" id="9"/>
            <p:cNvSpPr/>
            <p:nvPr/>
          </p:nvSpPr>
          <p:spPr>
            <a:xfrm flipH="false" flipV="false" rot="0">
              <a:off x="0" y="0"/>
              <a:ext cx="812800" cy="500983"/>
            </a:xfrm>
            <a:custGeom>
              <a:avLst/>
              <a:gdLst/>
              <a:ahLst/>
              <a:cxnLst/>
              <a:rect r="r" b="b" t="t" l="l"/>
              <a:pathLst>
                <a:path h="500983" w="812800">
                  <a:moveTo>
                    <a:pt x="48105" y="0"/>
                  </a:moveTo>
                  <a:lnTo>
                    <a:pt x="764695" y="0"/>
                  </a:lnTo>
                  <a:cubicBezTo>
                    <a:pt x="777454" y="0"/>
                    <a:pt x="789689" y="5068"/>
                    <a:pt x="798711" y="14090"/>
                  </a:cubicBezTo>
                  <a:cubicBezTo>
                    <a:pt x="807732" y="23111"/>
                    <a:pt x="812800" y="35346"/>
                    <a:pt x="812800" y="48105"/>
                  </a:cubicBezTo>
                  <a:lnTo>
                    <a:pt x="812800" y="452879"/>
                  </a:lnTo>
                  <a:cubicBezTo>
                    <a:pt x="812800" y="465637"/>
                    <a:pt x="807732" y="477873"/>
                    <a:pt x="798711" y="486894"/>
                  </a:cubicBezTo>
                  <a:cubicBezTo>
                    <a:pt x="789689" y="495915"/>
                    <a:pt x="777454" y="500983"/>
                    <a:pt x="764695" y="500983"/>
                  </a:cubicBezTo>
                  <a:lnTo>
                    <a:pt x="48105" y="500983"/>
                  </a:lnTo>
                  <a:cubicBezTo>
                    <a:pt x="35346" y="500983"/>
                    <a:pt x="23111" y="495915"/>
                    <a:pt x="14090" y="486894"/>
                  </a:cubicBezTo>
                  <a:cubicBezTo>
                    <a:pt x="5068" y="477873"/>
                    <a:pt x="0" y="465637"/>
                    <a:pt x="0" y="452879"/>
                  </a:cubicBezTo>
                  <a:lnTo>
                    <a:pt x="0" y="48105"/>
                  </a:lnTo>
                  <a:cubicBezTo>
                    <a:pt x="0" y="35346"/>
                    <a:pt x="5068" y="23111"/>
                    <a:pt x="14090" y="14090"/>
                  </a:cubicBezTo>
                  <a:cubicBezTo>
                    <a:pt x="23111" y="5068"/>
                    <a:pt x="35346" y="0"/>
                    <a:pt x="48105" y="0"/>
                  </a:cubicBezTo>
                  <a:close/>
                </a:path>
              </a:pathLst>
            </a:custGeom>
            <a:blipFill>
              <a:blip r:embed="rId4"/>
              <a:stretch>
                <a:fillRect l="0" t="-4046" r="0" b="-4046"/>
              </a:stretch>
            </a:blipFill>
          </p:spPr>
        </p:sp>
      </p:grpSp>
      <p:grpSp>
        <p:nvGrpSpPr>
          <p:cNvPr name="Group 10" id="10"/>
          <p:cNvGrpSpPr/>
          <p:nvPr/>
        </p:nvGrpSpPr>
        <p:grpSpPr>
          <a:xfrm rot="0">
            <a:off x="12474866" y="1596581"/>
            <a:ext cx="4506302" cy="2777537"/>
            <a:chOff x="0" y="0"/>
            <a:chExt cx="812800" cy="500983"/>
          </a:xfrm>
        </p:grpSpPr>
        <p:sp>
          <p:nvSpPr>
            <p:cNvPr name="Freeform 11" id="11"/>
            <p:cNvSpPr/>
            <p:nvPr/>
          </p:nvSpPr>
          <p:spPr>
            <a:xfrm flipH="false" flipV="false" rot="0">
              <a:off x="0" y="0"/>
              <a:ext cx="812800" cy="500983"/>
            </a:xfrm>
            <a:custGeom>
              <a:avLst/>
              <a:gdLst/>
              <a:ahLst/>
              <a:cxnLst/>
              <a:rect r="r" b="b" t="t" l="l"/>
              <a:pathLst>
                <a:path h="500983" w="812800">
                  <a:moveTo>
                    <a:pt x="48105" y="0"/>
                  </a:moveTo>
                  <a:lnTo>
                    <a:pt x="764695" y="0"/>
                  </a:lnTo>
                  <a:cubicBezTo>
                    <a:pt x="777454" y="0"/>
                    <a:pt x="789689" y="5068"/>
                    <a:pt x="798711" y="14090"/>
                  </a:cubicBezTo>
                  <a:cubicBezTo>
                    <a:pt x="807732" y="23111"/>
                    <a:pt x="812800" y="35346"/>
                    <a:pt x="812800" y="48105"/>
                  </a:cubicBezTo>
                  <a:lnTo>
                    <a:pt x="812800" y="452879"/>
                  </a:lnTo>
                  <a:cubicBezTo>
                    <a:pt x="812800" y="465637"/>
                    <a:pt x="807732" y="477873"/>
                    <a:pt x="798711" y="486894"/>
                  </a:cubicBezTo>
                  <a:cubicBezTo>
                    <a:pt x="789689" y="495915"/>
                    <a:pt x="777454" y="500983"/>
                    <a:pt x="764695" y="500983"/>
                  </a:cubicBezTo>
                  <a:lnTo>
                    <a:pt x="48105" y="500983"/>
                  </a:lnTo>
                  <a:cubicBezTo>
                    <a:pt x="35346" y="500983"/>
                    <a:pt x="23111" y="495915"/>
                    <a:pt x="14090" y="486894"/>
                  </a:cubicBezTo>
                  <a:cubicBezTo>
                    <a:pt x="5068" y="477873"/>
                    <a:pt x="0" y="465637"/>
                    <a:pt x="0" y="452879"/>
                  </a:cubicBezTo>
                  <a:lnTo>
                    <a:pt x="0" y="48105"/>
                  </a:lnTo>
                  <a:cubicBezTo>
                    <a:pt x="0" y="35346"/>
                    <a:pt x="5068" y="23111"/>
                    <a:pt x="14090" y="14090"/>
                  </a:cubicBezTo>
                  <a:cubicBezTo>
                    <a:pt x="23111" y="5068"/>
                    <a:pt x="35346" y="0"/>
                    <a:pt x="48105" y="0"/>
                  </a:cubicBezTo>
                  <a:close/>
                </a:path>
              </a:pathLst>
            </a:custGeom>
            <a:blipFill>
              <a:blip r:embed="rId5"/>
              <a:stretch>
                <a:fillRect l="0" t="-4080" r="0" b="-4080"/>
              </a:stretch>
            </a:blipFill>
          </p:spPr>
        </p:sp>
      </p:grpSp>
      <p:sp>
        <p:nvSpPr>
          <p:cNvPr name="TextBox 12" id="12"/>
          <p:cNvSpPr txBox="true"/>
          <p:nvPr/>
        </p:nvSpPr>
        <p:spPr>
          <a:xfrm rot="0">
            <a:off x="2050708" y="102598"/>
            <a:ext cx="15208592" cy="1189978"/>
          </a:xfrm>
          <a:prstGeom prst="rect">
            <a:avLst/>
          </a:prstGeom>
        </p:spPr>
        <p:txBody>
          <a:bodyPr anchor="t" rtlCol="false" tIns="0" lIns="0" bIns="0" rIns="0">
            <a:spAutoFit/>
          </a:bodyPr>
          <a:lstStyle/>
          <a:p>
            <a:pPr algn="ctr">
              <a:lnSpc>
                <a:spcPts val="8960"/>
              </a:lnSpc>
            </a:pPr>
            <a:r>
              <a:rPr lang="en-US" b="true" sz="6400">
                <a:solidFill>
                  <a:srgbClr val="FFFFFF"/>
                </a:solidFill>
                <a:latin typeface="Helvetica World Bold"/>
                <a:ea typeface="Helvetica World Bold"/>
                <a:cs typeface="Helvetica World Bold"/>
                <a:sym typeface="Helvetica World Bold"/>
              </a:rPr>
              <a:t>BAB II LANDASAN TEORI</a:t>
            </a:r>
          </a:p>
        </p:txBody>
      </p:sp>
      <p:sp>
        <p:nvSpPr>
          <p:cNvPr name="TextBox 13" id="13"/>
          <p:cNvSpPr txBox="true"/>
          <p:nvPr/>
        </p:nvSpPr>
        <p:spPr>
          <a:xfrm rot="0">
            <a:off x="451663" y="5343109"/>
            <a:ext cx="7398009" cy="5199379"/>
          </a:xfrm>
          <a:prstGeom prst="rect">
            <a:avLst/>
          </a:prstGeom>
        </p:spPr>
        <p:txBody>
          <a:bodyPr anchor="t" rtlCol="false" tIns="0" lIns="0" bIns="0" rIns="0">
            <a:spAutoFit/>
          </a:bodyPr>
          <a:lstStyle/>
          <a:p>
            <a:pPr algn="l">
              <a:lnSpc>
                <a:spcPts val="3220"/>
              </a:lnSpc>
            </a:pPr>
            <a:r>
              <a:rPr lang="en-US" sz="2300">
                <a:solidFill>
                  <a:srgbClr val="101D56"/>
                </a:solidFill>
                <a:latin typeface="Archivo Black"/>
                <a:ea typeface="Archivo Black"/>
                <a:cs typeface="Archivo Black"/>
                <a:sym typeface="Archivo Black"/>
              </a:rPr>
              <a:t>A. STRATEGI</a:t>
            </a:r>
          </a:p>
          <a:p>
            <a:pPr algn="l" marL="496575" indent="-248288" lvl="1">
              <a:lnSpc>
                <a:spcPts val="3220"/>
              </a:lnSpc>
              <a:buAutoNum type="arabicPeriod" startAt="1"/>
            </a:pPr>
            <a:r>
              <a:rPr lang="en-US" sz="2300">
                <a:solidFill>
                  <a:srgbClr val="101D56"/>
                </a:solidFill>
                <a:latin typeface="Archivo Black"/>
                <a:ea typeface="Archivo Black"/>
                <a:cs typeface="Archivo Black"/>
                <a:sym typeface="Archivo Black"/>
              </a:rPr>
              <a:t>PENGERTIAN STRATEGI</a:t>
            </a:r>
          </a:p>
          <a:p>
            <a:pPr algn="l" marL="496575" indent="-248288" lvl="1">
              <a:lnSpc>
                <a:spcPts val="3220"/>
              </a:lnSpc>
              <a:buAutoNum type="arabicPeriod" startAt="1"/>
            </a:pPr>
            <a:r>
              <a:rPr lang="en-US" sz="2300">
                <a:solidFill>
                  <a:srgbClr val="101D56"/>
                </a:solidFill>
                <a:latin typeface="Archivo Black"/>
                <a:ea typeface="Archivo Black"/>
                <a:cs typeface="Archivo Black"/>
                <a:sym typeface="Archivo Black"/>
              </a:rPr>
              <a:t>STRATEGI GURU PENDIDIKAN AGAMA ISLAM</a:t>
            </a:r>
          </a:p>
          <a:p>
            <a:pPr algn="l" marL="496575" indent="-248288" lvl="1">
              <a:lnSpc>
                <a:spcPts val="3220"/>
              </a:lnSpc>
              <a:buAutoNum type="arabicPeriod" startAt="1"/>
            </a:pPr>
            <a:r>
              <a:rPr lang="en-US" sz="2300">
                <a:solidFill>
                  <a:srgbClr val="101D56"/>
                </a:solidFill>
                <a:latin typeface="Archivo Black"/>
                <a:ea typeface="Archivo Black"/>
                <a:cs typeface="Archivo Black"/>
                <a:sym typeface="Archivo Black"/>
              </a:rPr>
              <a:t>MACAM- MACAM STRATEGI</a:t>
            </a:r>
          </a:p>
          <a:p>
            <a:pPr algn="l">
              <a:lnSpc>
                <a:spcPts val="3220"/>
              </a:lnSpc>
            </a:pPr>
            <a:r>
              <a:rPr lang="en-US" sz="2300">
                <a:solidFill>
                  <a:srgbClr val="101D56"/>
                </a:solidFill>
                <a:latin typeface="Archivo Black"/>
                <a:ea typeface="Archivo Black"/>
                <a:cs typeface="Archivo Black"/>
                <a:sym typeface="Archivo Black"/>
              </a:rPr>
              <a:t>B. PEMBINAAN</a:t>
            </a:r>
          </a:p>
          <a:p>
            <a:pPr algn="l" marL="496575" indent="-248288" lvl="1">
              <a:lnSpc>
                <a:spcPts val="3220"/>
              </a:lnSpc>
              <a:buAutoNum type="arabicPeriod" startAt="1"/>
            </a:pPr>
            <a:r>
              <a:rPr lang="en-US" sz="2300">
                <a:solidFill>
                  <a:srgbClr val="101D56"/>
                </a:solidFill>
                <a:latin typeface="Archivo Black"/>
                <a:ea typeface="Archivo Black"/>
                <a:cs typeface="Archivo Black"/>
                <a:sym typeface="Archivo Black"/>
              </a:rPr>
              <a:t>PENGERTIAN PEMBINAAN</a:t>
            </a:r>
          </a:p>
          <a:p>
            <a:pPr algn="l">
              <a:lnSpc>
                <a:spcPts val="3220"/>
              </a:lnSpc>
            </a:pPr>
            <a:r>
              <a:rPr lang="en-US" sz="2300">
                <a:solidFill>
                  <a:srgbClr val="101D56"/>
                </a:solidFill>
                <a:latin typeface="Archivo Black"/>
                <a:ea typeface="Archivo Black"/>
                <a:cs typeface="Archivo Black"/>
                <a:sym typeface="Archivo Black"/>
              </a:rPr>
              <a:t>C. POLA INTERAKSI SOSIAL SISWA</a:t>
            </a:r>
          </a:p>
          <a:p>
            <a:pPr algn="l" marL="496575" indent="-248288" lvl="1">
              <a:lnSpc>
                <a:spcPts val="3220"/>
              </a:lnSpc>
              <a:buAutoNum type="arabicPeriod" startAt="1"/>
            </a:pPr>
            <a:r>
              <a:rPr lang="en-US" sz="2300">
                <a:solidFill>
                  <a:srgbClr val="101D56"/>
                </a:solidFill>
                <a:latin typeface="Archivo Black"/>
                <a:ea typeface="Archivo Black"/>
                <a:cs typeface="Archivo Black"/>
                <a:sym typeface="Archivo Black"/>
              </a:rPr>
              <a:t>POLA INTERAKSI SOSIAL SISWA</a:t>
            </a:r>
          </a:p>
          <a:p>
            <a:pPr algn="l" marL="496575" indent="-248288" lvl="1">
              <a:lnSpc>
                <a:spcPts val="3220"/>
              </a:lnSpc>
              <a:buAutoNum type="arabicPeriod" startAt="1"/>
            </a:pPr>
            <a:r>
              <a:rPr lang="en-US" sz="2300">
                <a:solidFill>
                  <a:srgbClr val="101D56"/>
                </a:solidFill>
                <a:latin typeface="Archivo Black"/>
                <a:ea typeface="Archivo Black"/>
                <a:cs typeface="Archivo Black"/>
                <a:sym typeface="Archivo Black"/>
              </a:rPr>
              <a:t>CIRI-CIRI POLA INTERAKSI SOSIAL SISWA</a:t>
            </a:r>
          </a:p>
          <a:p>
            <a:pPr algn="l" marL="496575" indent="-248288" lvl="1">
              <a:lnSpc>
                <a:spcPts val="3220"/>
              </a:lnSpc>
              <a:buAutoNum type="arabicPeriod" startAt="1"/>
            </a:pPr>
            <a:r>
              <a:rPr lang="en-US" sz="2300">
                <a:solidFill>
                  <a:srgbClr val="101D56"/>
                </a:solidFill>
                <a:latin typeface="Archivo Black"/>
                <a:ea typeface="Archivo Black"/>
                <a:cs typeface="Archivo Black"/>
                <a:sym typeface="Archivo Black"/>
              </a:rPr>
              <a:t>SYARAT-SYARAT POLA INTERAKSI SOSIAL SISWA</a:t>
            </a:r>
          </a:p>
          <a:p>
            <a:pPr algn="l">
              <a:lnSpc>
                <a:spcPts val="3220"/>
              </a:lnSpc>
            </a:pPr>
          </a:p>
        </p:txBody>
      </p:sp>
      <p:sp>
        <p:nvSpPr>
          <p:cNvPr name="TextBox 14" id="14"/>
          <p:cNvSpPr txBox="true"/>
          <p:nvPr/>
        </p:nvSpPr>
        <p:spPr>
          <a:xfrm rot="0">
            <a:off x="8520485" y="4981159"/>
            <a:ext cx="9959585" cy="5199379"/>
          </a:xfrm>
          <a:prstGeom prst="rect">
            <a:avLst/>
          </a:prstGeom>
        </p:spPr>
        <p:txBody>
          <a:bodyPr anchor="t" rtlCol="false" tIns="0" lIns="0" bIns="0" rIns="0">
            <a:spAutoFit/>
          </a:bodyPr>
          <a:lstStyle/>
          <a:p>
            <a:pPr algn="l">
              <a:lnSpc>
                <a:spcPts val="3220"/>
              </a:lnSpc>
            </a:pPr>
            <a:r>
              <a:rPr lang="en-US" sz="2300">
                <a:solidFill>
                  <a:srgbClr val="101D56"/>
                </a:solidFill>
                <a:latin typeface="Archivo Black"/>
                <a:ea typeface="Archivo Black"/>
                <a:cs typeface="Archivo Black"/>
                <a:sym typeface="Archivo Black"/>
              </a:rPr>
              <a:t>PENELITIAN YANG RELEVAN</a:t>
            </a:r>
          </a:p>
          <a:p>
            <a:pPr algn="l" marL="496575" indent="-248288" lvl="1">
              <a:lnSpc>
                <a:spcPts val="3220"/>
              </a:lnSpc>
              <a:buAutoNum type="arabicPeriod" startAt="1"/>
            </a:pPr>
            <a:r>
              <a:rPr lang="en-US" sz="2300">
                <a:solidFill>
                  <a:srgbClr val="101D56"/>
                </a:solidFill>
                <a:latin typeface="Archivo Black"/>
                <a:ea typeface="Archivo Black"/>
                <a:cs typeface="Archivo Black"/>
                <a:sym typeface="Archivo Black"/>
              </a:rPr>
              <a:t>PENELITIAN TULAD SUTOMO 2023 “ STRATEGI GURU DALA MENGGUNAKAN POLA INTERAKSI PADA TEMA 2 DI KELAS VI SDN 64/1 MUARA BULIAN”</a:t>
            </a:r>
          </a:p>
          <a:p>
            <a:pPr algn="l" marL="496575" indent="-248288" lvl="1">
              <a:lnSpc>
                <a:spcPts val="3220"/>
              </a:lnSpc>
              <a:buAutoNum type="arabicPeriod" startAt="1"/>
            </a:pPr>
            <a:r>
              <a:rPr lang="en-US" sz="2300">
                <a:solidFill>
                  <a:srgbClr val="101D56"/>
                </a:solidFill>
                <a:latin typeface="Archivo Black"/>
                <a:ea typeface="Archivo Black"/>
                <a:cs typeface="Archivo Black"/>
                <a:sym typeface="Archivo Black"/>
              </a:rPr>
              <a:t>Penelitian Rani Tiara Pagestika 2023 “ Pola interaksi Edukatif Guru siswa dalam pembelajaran kelas V SD Negeri 1 Metro Selatan”</a:t>
            </a:r>
          </a:p>
          <a:p>
            <a:pPr algn="l" marL="496575" indent="-248288" lvl="1">
              <a:lnSpc>
                <a:spcPts val="3220"/>
              </a:lnSpc>
              <a:buAutoNum type="arabicPeriod" startAt="1"/>
            </a:pPr>
            <a:r>
              <a:rPr lang="en-US" sz="2300">
                <a:solidFill>
                  <a:srgbClr val="101D56"/>
                </a:solidFill>
                <a:latin typeface="Archivo Black"/>
                <a:ea typeface="Archivo Black"/>
                <a:cs typeface="Archivo Black"/>
                <a:sym typeface="Archivo Black"/>
              </a:rPr>
              <a:t>Penelitian Aulia Syarah Lubis, 2018, “ Pola interaksi guru dengan murid dalam pembelajaran PAI di kelas XI MA mualimin Univa Medan”</a:t>
            </a:r>
          </a:p>
          <a:p>
            <a:pPr algn="l" marL="496575" indent="-248288" lvl="1">
              <a:lnSpc>
                <a:spcPts val="3220"/>
              </a:lnSpc>
              <a:buAutoNum type="arabicPeriod" startAt="1"/>
            </a:pPr>
            <a:r>
              <a:rPr lang="en-US" sz="2300">
                <a:solidFill>
                  <a:srgbClr val="101D56"/>
                </a:solidFill>
                <a:latin typeface="Archivo Black"/>
                <a:ea typeface="Archivo Black"/>
                <a:cs typeface="Archivo Black"/>
                <a:sym typeface="Archivo Black"/>
              </a:rPr>
              <a:t>Penelitian Fahmi Fadil, 2021, “ Strategi guru Pendidikan agama islam dalam membina akhlak siswa di SMA negeri 10 Mataram”</a:t>
            </a:r>
          </a:p>
        </p:txBody>
      </p:sp>
      <p:sp>
        <p:nvSpPr>
          <p:cNvPr name="Freeform 15" id="15"/>
          <p:cNvSpPr/>
          <p:nvPr/>
        </p:nvSpPr>
        <p:spPr>
          <a:xfrm flipH="false" flipV="false" rot="0">
            <a:off x="451663" y="235948"/>
            <a:ext cx="1431822" cy="1056628"/>
          </a:xfrm>
          <a:custGeom>
            <a:avLst/>
            <a:gdLst/>
            <a:ahLst/>
            <a:cxnLst/>
            <a:rect r="r" b="b" t="t" l="l"/>
            <a:pathLst>
              <a:path h="1056628" w="1431822">
                <a:moveTo>
                  <a:pt x="0" y="0"/>
                </a:moveTo>
                <a:lnTo>
                  <a:pt x="1431822" y="0"/>
                </a:lnTo>
                <a:lnTo>
                  <a:pt x="1431822" y="1056628"/>
                </a:lnTo>
                <a:lnTo>
                  <a:pt x="0" y="1056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5674336" y="0"/>
            <a:ext cx="2613664" cy="2585152"/>
          </a:xfrm>
          <a:custGeom>
            <a:avLst/>
            <a:gdLst/>
            <a:ahLst/>
            <a:cxnLst/>
            <a:rect r="r" b="b" t="t" l="l"/>
            <a:pathLst>
              <a:path h="2585152" w="2613664">
                <a:moveTo>
                  <a:pt x="0" y="0"/>
                </a:moveTo>
                <a:lnTo>
                  <a:pt x="2613664" y="0"/>
                </a:lnTo>
                <a:lnTo>
                  <a:pt x="2613664" y="2585152"/>
                </a:lnTo>
                <a:lnTo>
                  <a:pt x="0" y="2585152"/>
                </a:lnTo>
                <a:lnTo>
                  <a:pt x="0" y="0"/>
                </a:lnTo>
                <a:close/>
              </a:path>
            </a:pathLst>
          </a:custGeom>
          <a:blipFill>
            <a:blip r:embed="rId8">
              <a:alphaModFix amt="7999"/>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12888" t="0" r="-12888" b="0"/>
            </a:stretch>
          </a:blipFill>
        </p:spPr>
      </p:sp>
      <p:grpSp>
        <p:nvGrpSpPr>
          <p:cNvPr name="Group 3" id="3"/>
          <p:cNvGrpSpPr/>
          <p:nvPr/>
        </p:nvGrpSpPr>
        <p:grpSpPr>
          <a:xfrm rot="0">
            <a:off x="4610100" y="0"/>
            <a:ext cx="13677900" cy="9785848"/>
            <a:chOff x="0" y="0"/>
            <a:chExt cx="3602410" cy="2577343"/>
          </a:xfrm>
        </p:grpSpPr>
        <p:sp>
          <p:nvSpPr>
            <p:cNvPr name="Freeform 4" id="4"/>
            <p:cNvSpPr/>
            <p:nvPr/>
          </p:nvSpPr>
          <p:spPr>
            <a:xfrm flipH="false" flipV="false" rot="0">
              <a:off x="0" y="0"/>
              <a:ext cx="3602410" cy="2577343"/>
            </a:xfrm>
            <a:custGeom>
              <a:avLst/>
              <a:gdLst/>
              <a:ahLst/>
              <a:cxnLst/>
              <a:rect r="r" b="b" t="t" l="l"/>
              <a:pathLst>
                <a:path h="2577343" w="3602410">
                  <a:moveTo>
                    <a:pt x="0" y="0"/>
                  </a:moveTo>
                  <a:lnTo>
                    <a:pt x="3602410" y="0"/>
                  </a:lnTo>
                  <a:lnTo>
                    <a:pt x="3602410" y="2577343"/>
                  </a:lnTo>
                  <a:lnTo>
                    <a:pt x="0" y="2577343"/>
                  </a:lnTo>
                  <a:close/>
                </a:path>
              </a:pathLst>
            </a:custGeom>
            <a:solidFill>
              <a:srgbClr val="023059"/>
            </a:solidFill>
          </p:spPr>
        </p:sp>
        <p:sp>
          <p:nvSpPr>
            <p:cNvPr name="TextBox 5" id="5"/>
            <p:cNvSpPr txBox="true"/>
            <p:nvPr/>
          </p:nvSpPr>
          <p:spPr>
            <a:xfrm>
              <a:off x="0" y="-95250"/>
              <a:ext cx="3602410" cy="2672593"/>
            </a:xfrm>
            <a:prstGeom prst="rect">
              <a:avLst/>
            </a:prstGeom>
          </p:spPr>
          <p:txBody>
            <a:bodyPr anchor="ctr" rtlCol="false" tIns="50800" lIns="50800" bIns="50800" rIns="50800"/>
            <a:lstStyle/>
            <a:p>
              <a:pPr algn="ctr">
                <a:lnSpc>
                  <a:spcPts val="3927"/>
                </a:lnSpc>
              </a:pPr>
            </a:p>
          </p:txBody>
        </p:sp>
      </p:grpSp>
      <p:sp>
        <p:nvSpPr>
          <p:cNvPr name="Freeform 6" id="6"/>
          <p:cNvSpPr/>
          <p:nvPr/>
        </p:nvSpPr>
        <p:spPr>
          <a:xfrm flipH="true" flipV="true" rot="-5400000">
            <a:off x="-5968007" y="3945931"/>
            <a:ext cx="10287000" cy="2395139"/>
          </a:xfrm>
          <a:custGeom>
            <a:avLst/>
            <a:gdLst/>
            <a:ahLst/>
            <a:cxnLst/>
            <a:rect r="r" b="b" t="t" l="l"/>
            <a:pathLst>
              <a:path h="2395139" w="10287000">
                <a:moveTo>
                  <a:pt x="10287000" y="2395138"/>
                </a:moveTo>
                <a:lnTo>
                  <a:pt x="0" y="2395138"/>
                </a:lnTo>
                <a:lnTo>
                  <a:pt x="0" y="0"/>
                </a:lnTo>
                <a:lnTo>
                  <a:pt x="10287000" y="0"/>
                </a:lnTo>
                <a:lnTo>
                  <a:pt x="10287000" y="2395138"/>
                </a:lnTo>
                <a:close/>
              </a:path>
            </a:pathLst>
          </a:custGeom>
          <a:blipFill>
            <a:blip r:embed="rId3">
              <a:extLst>
                <a:ext uri="{96DAC541-7B7A-43D3-8B79-37D633B846F1}">
                  <asvg:svgBlip xmlns:asvg="http://schemas.microsoft.com/office/drawing/2016/SVG/main" r:embed="rId4"/>
                </a:ext>
              </a:extLst>
            </a:blip>
            <a:stretch>
              <a:fillRect l="-1026" t="-57958" r="0" b="-958"/>
            </a:stretch>
          </a:blipFill>
        </p:spPr>
      </p:sp>
      <p:sp>
        <p:nvSpPr>
          <p:cNvPr name="Freeform 7" id="7"/>
          <p:cNvSpPr/>
          <p:nvPr/>
        </p:nvSpPr>
        <p:spPr>
          <a:xfrm flipH="false" flipV="false" rot="0">
            <a:off x="14318691" y="1143625"/>
            <a:ext cx="683395" cy="437373"/>
          </a:xfrm>
          <a:custGeom>
            <a:avLst/>
            <a:gdLst/>
            <a:ahLst/>
            <a:cxnLst/>
            <a:rect r="r" b="b" t="t" l="l"/>
            <a:pathLst>
              <a:path h="437373" w="683395">
                <a:moveTo>
                  <a:pt x="0" y="0"/>
                </a:moveTo>
                <a:lnTo>
                  <a:pt x="683395" y="0"/>
                </a:lnTo>
                <a:lnTo>
                  <a:pt x="683395" y="437373"/>
                </a:lnTo>
                <a:lnTo>
                  <a:pt x="0" y="4373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8116663" y="6755358"/>
            <a:ext cx="951137" cy="444437"/>
          </a:xfrm>
          <a:custGeom>
            <a:avLst/>
            <a:gdLst/>
            <a:ahLst/>
            <a:cxnLst/>
            <a:rect r="r" b="b" t="t" l="l"/>
            <a:pathLst>
              <a:path h="444437" w="951137">
                <a:moveTo>
                  <a:pt x="0" y="0"/>
                </a:moveTo>
                <a:lnTo>
                  <a:pt x="951137" y="0"/>
                </a:lnTo>
                <a:lnTo>
                  <a:pt x="951137" y="444436"/>
                </a:lnTo>
                <a:lnTo>
                  <a:pt x="0" y="444436"/>
                </a:lnTo>
                <a:lnTo>
                  <a:pt x="0" y="0"/>
                </a:lnTo>
                <a:close/>
              </a:path>
            </a:pathLst>
          </a:custGeom>
          <a:blipFill>
            <a:blip r:embed="rId7">
              <a:extLst>
                <a:ext uri="{96DAC541-7B7A-43D3-8B79-37D633B846F1}">
                  <asvg:svgBlip xmlns:asvg="http://schemas.microsoft.com/office/drawing/2016/SVG/main" r:embed="rId8"/>
                </a:ext>
              </a:extLst>
            </a:blip>
            <a:stretch>
              <a:fillRect l="0" t="-78900" r="-112980" b="0"/>
            </a:stretch>
          </a:blipFill>
        </p:spPr>
      </p:sp>
      <p:grpSp>
        <p:nvGrpSpPr>
          <p:cNvPr name="Group 9" id="9"/>
          <p:cNvGrpSpPr/>
          <p:nvPr/>
        </p:nvGrpSpPr>
        <p:grpSpPr>
          <a:xfrm rot="0">
            <a:off x="772241" y="0"/>
            <a:ext cx="5084105" cy="8978527"/>
            <a:chOff x="0" y="0"/>
            <a:chExt cx="1183321" cy="2089745"/>
          </a:xfrm>
        </p:grpSpPr>
        <p:sp>
          <p:nvSpPr>
            <p:cNvPr name="Freeform 10" id="10"/>
            <p:cNvSpPr/>
            <p:nvPr/>
          </p:nvSpPr>
          <p:spPr>
            <a:xfrm flipH="true" flipV="false" rot="0">
              <a:off x="0" y="0"/>
              <a:ext cx="1183321" cy="2089745"/>
            </a:xfrm>
            <a:custGeom>
              <a:avLst/>
              <a:gdLst/>
              <a:ahLst/>
              <a:cxnLst/>
              <a:rect r="r" b="b" t="t" l="l"/>
              <a:pathLst>
                <a:path h="2089745" w="1183321">
                  <a:moveTo>
                    <a:pt x="1183321" y="0"/>
                  </a:moveTo>
                  <a:lnTo>
                    <a:pt x="0" y="0"/>
                  </a:lnTo>
                  <a:lnTo>
                    <a:pt x="0" y="2089745"/>
                  </a:lnTo>
                  <a:lnTo>
                    <a:pt x="1183321" y="2089745"/>
                  </a:lnTo>
                  <a:close/>
                </a:path>
              </a:pathLst>
            </a:custGeom>
            <a:blipFill>
              <a:blip r:embed="rId9"/>
              <a:stretch>
                <a:fillRect l="-82532" t="0" r="-82532" b="0"/>
              </a:stretch>
            </a:blipFill>
          </p:spPr>
        </p:sp>
      </p:grpSp>
      <p:sp>
        <p:nvSpPr>
          <p:cNvPr name="Freeform 11" id="11"/>
          <p:cNvSpPr/>
          <p:nvPr/>
        </p:nvSpPr>
        <p:spPr>
          <a:xfrm flipH="false" flipV="false" rot="0">
            <a:off x="15802745" y="3581213"/>
            <a:ext cx="6187775" cy="7237163"/>
          </a:xfrm>
          <a:custGeom>
            <a:avLst/>
            <a:gdLst/>
            <a:ahLst/>
            <a:cxnLst/>
            <a:rect r="r" b="b" t="t" l="l"/>
            <a:pathLst>
              <a:path h="7237163" w="6187775">
                <a:moveTo>
                  <a:pt x="0" y="0"/>
                </a:moveTo>
                <a:lnTo>
                  <a:pt x="6187774" y="0"/>
                </a:lnTo>
                <a:lnTo>
                  <a:pt x="6187774" y="7237163"/>
                </a:lnTo>
                <a:lnTo>
                  <a:pt x="0" y="7237163"/>
                </a:lnTo>
                <a:lnTo>
                  <a:pt x="0" y="0"/>
                </a:lnTo>
                <a:close/>
              </a:path>
            </a:pathLst>
          </a:custGeom>
          <a:blipFill>
            <a:blip r:embed="rId10"/>
            <a:stretch>
              <a:fillRect l="0" t="0" r="0" b="0"/>
            </a:stretch>
          </a:blipFill>
        </p:spPr>
      </p:sp>
      <p:sp>
        <p:nvSpPr>
          <p:cNvPr name="TextBox 12" id="12"/>
          <p:cNvSpPr txBox="true"/>
          <p:nvPr/>
        </p:nvSpPr>
        <p:spPr>
          <a:xfrm rot="0">
            <a:off x="3314293" y="3040312"/>
            <a:ext cx="17221831" cy="3695700"/>
          </a:xfrm>
          <a:prstGeom prst="rect">
            <a:avLst/>
          </a:prstGeom>
        </p:spPr>
        <p:txBody>
          <a:bodyPr anchor="t" rtlCol="false" tIns="0" lIns="0" bIns="0" rIns="0">
            <a:spAutoFit/>
          </a:bodyPr>
          <a:lstStyle/>
          <a:p>
            <a:pPr algn="ctr">
              <a:lnSpc>
                <a:spcPts val="9720"/>
              </a:lnSpc>
            </a:pPr>
            <a:r>
              <a:rPr lang="en-US" b="true" sz="8100">
                <a:solidFill>
                  <a:srgbClr val="FFFFFF"/>
                </a:solidFill>
                <a:latin typeface="League Spartan"/>
                <a:ea typeface="League Spartan"/>
                <a:cs typeface="League Spartan"/>
                <a:sym typeface="League Spartan"/>
              </a:rPr>
              <a:t>BAB III METODOLOGI PENELITIAN</a:t>
            </a:r>
          </a:p>
          <a:p>
            <a:pPr algn="ctr">
              <a:lnSpc>
                <a:spcPts val="9720"/>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858277" y="9258300"/>
            <a:ext cx="20136229" cy="2402574"/>
            <a:chOff x="0" y="0"/>
            <a:chExt cx="5303369" cy="632777"/>
          </a:xfrm>
        </p:grpSpPr>
        <p:sp>
          <p:nvSpPr>
            <p:cNvPr name="Freeform 4" id="4"/>
            <p:cNvSpPr/>
            <p:nvPr/>
          </p:nvSpPr>
          <p:spPr>
            <a:xfrm flipH="false" flipV="false" rot="0">
              <a:off x="0" y="0"/>
              <a:ext cx="5303369" cy="632777"/>
            </a:xfrm>
            <a:custGeom>
              <a:avLst/>
              <a:gdLst/>
              <a:ahLst/>
              <a:cxnLst/>
              <a:rect r="r" b="b" t="t" l="l"/>
              <a:pathLst>
                <a:path h="632777" w="5303369">
                  <a:moveTo>
                    <a:pt x="0" y="0"/>
                  </a:moveTo>
                  <a:lnTo>
                    <a:pt x="5303369" y="0"/>
                  </a:lnTo>
                  <a:lnTo>
                    <a:pt x="5303369" y="632777"/>
                  </a:lnTo>
                  <a:lnTo>
                    <a:pt x="0" y="632777"/>
                  </a:lnTo>
                  <a:close/>
                </a:path>
              </a:pathLst>
            </a:custGeom>
            <a:solidFill>
              <a:srgbClr val="101D56"/>
            </a:solidFill>
          </p:spPr>
        </p:sp>
        <p:sp>
          <p:nvSpPr>
            <p:cNvPr name="TextBox 5" id="5"/>
            <p:cNvSpPr txBox="true"/>
            <p:nvPr/>
          </p:nvSpPr>
          <p:spPr>
            <a:xfrm>
              <a:off x="0" y="-47625"/>
              <a:ext cx="5303369" cy="680402"/>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4506600" y="845548"/>
            <a:ext cx="9511363" cy="1373413"/>
            <a:chOff x="0" y="0"/>
            <a:chExt cx="2505050" cy="361722"/>
          </a:xfrm>
        </p:grpSpPr>
        <p:sp>
          <p:nvSpPr>
            <p:cNvPr name="Freeform 7" id="7"/>
            <p:cNvSpPr/>
            <p:nvPr/>
          </p:nvSpPr>
          <p:spPr>
            <a:xfrm flipH="false" flipV="false" rot="0">
              <a:off x="0" y="0"/>
              <a:ext cx="2505050" cy="361722"/>
            </a:xfrm>
            <a:custGeom>
              <a:avLst/>
              <a:gdLst/>
              <a:ahLst/>
              <a:cxnLst/>
              <a:rect r="r" b="b" t="t" l="l"/>
              <a:pathLst>
                <a:path h="361722" w="2505050">
                  <a:moveTo>
                    <a:pt x="17907" y="0"/>
                  </a:moveTo>
                  <a:lnTo>
                    <a:pt x="2487143" y="0"/>
                  </a:lnTo>
                  <a:cubicBezTo>
                    <a:pt x="2497033" y="0"/>
                    <a:pt x="2505050" y="8017"/>
                    <a:pt x="2505050" y="17907"/>
                  </a:cubicBezTo>
                  <a:lnTo>
                    <a:pt x="2505050" y="343815"/>
                  </a:lnTo>
                  <a:cubicBezTo>
                    <a:pt x="2505050" y="348564"/>
                    <a:pt x="2503164" y="353119"/>
                    <a:pt x="2499806" y="356477"/>
                  </a:cubicBezTo>
                  <a:cubicBezTo>
                    <a:pt x="2496447" y="359835"/>
                    <a:pt x="2491892" y="361722"/>
                    <a:pt x="2487143" y="361722"/>
                  </a:cubicBezTo>
                  <a:lnTo>
                    <a:pt x="17907" y="361722"/>
                  </a:lnTo>
                  <a:cubicBezTo>
                    <a:pt x="13158" y="361722"/>
                    <a:pt x="8603" y="359835"/>
                    <a:pt x="5245" y="356477"/>
                  </a:cubicBezTo>
                  <a:cubicBezTo>
                    <a:pt x="1887" y="353119"/>
                    <a:pt x="0" y="348564"/>
                    <a:pt x="0" y="343815"/>
                  </a:cubicBezTo>
                  <a:lnTo>
                    <a:pt x="0" y="17907"/>
                  </a:lnTo>
                  <a:cubicBezTo>
                    <a:pt x="0" y="8017"/>
                    <a:pt x="8017" y="0"/>
                    <a:pt x="17907" y="0"/>
                  </a:cubicBezTo>
                  <a:close/>
                </a:path>
              </a:pathLst>
            </a:custGeom>
            <a:solidFill>
              <a:srgbClr val="3A6B95"/>
            </a:solidFill>
          </p:spPr>
        </p:sp>
        <p:sp>
          <p:nvSpPr>
            <p:cNvPr name="TextBox 8" id="8"/>
            <p:cNvSpPr txBox="true"/>
            <p:nvPr/>
          </p:nvSpPr>
          <p:spPr>
            <a:xfrm>
              <a:off x="0" y="-47625"/>
              <a:ext cx="2505050" cy="409347"/>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130800" y="-1494693"/>
            <a:ext cx="9274800" cy="2168791"/>
            <a:chOff x="0" y="0"/>
            <a:chExt cx="2442746" cy="571204"/>
          </a:xfrm>
        </p:grpSpPr>
        <p:sp>
          <p:nvSpPr>
            <p:cNvPr name="Freeform 10" id="10"/>
            <p:cNvSpPr/>
            <p:nvPr/>
          </p:nvSpPr>
          <p:spPr>
            <a:xfrm flipH="false" flipV="false" rot="0">
              <a:off x="0" y="0"/>
              <a:ext cx="2442746" cy="571204"/>
            </a:xfrm>
            <a:custGeom>
              <a:avLst/>
              <a:gdLst/>
              <a:ahLst/>
              <a:cxnLst/>
              <a:rect r="r" b="b" t="t" l="l"/>
              <a:pathLst>
                <a:path h="571204" w="2442746">
                  <a:moveTo>
                    <a:pt x="25042" y="0"/>
                  </a:moveTo>
                  <a:lnTo>
                    <a:pt x="2417704" y="0"/>
                  </a:lnTo>
                  <a:cubicBezTo>
                    <a:pt x="2431534" y="0"/>
                    <a:pt x="2442746" y="11212"/>
                    <a:pt x="2442746" y="25042"/>
                  </a:cubicBezTo>
                  <a:lnTo>
                    <a:pt x="2442746" y="546162"/>
                  </a:lnTo>
                  <a:cubicBezTo>
                    <a:pt x="2442746" y="552804"/>
                    <a:pt x="2440107" y="559173"/>
                    <a:pt x="2435411" y="563870"/>
                  </a:cubicBezTo>
                  <a:cubicBezTo>
                    <a:pt x="2430715" y="568566"/>
                    <a:pt x="2424345" y="571204"/>
                    <a:pt x="2417704" y="571204"/>
                  </a:cubicBezTo>
                  <a:lnTo>
                    <a:pt x="25042" y="571204"/>
                  </a:lnTo>
                  <a:cubicBezTo>
                    <a:pt x="11212" y="571204"/>
                    <a:pt x="0" y="559993"/>
                    <a:pt x="0" y="546162"/>
                  </a:cubicBezTo>
                  <a:lnTo>
                    <a:pt x="0" y="25042"/>
                  </a:lnTo>
                  <a:cubicBezTo>
                    <a:pt x="0" y="18400"/>
                    <a:pt x="2638" y="12031"/>
                    <a:pt x="7335" y="7335"/>
                  </a:cubicBezTo>
                  <a:cubicBezTo>
                    <a:pt x="12031" y="2638"/>
                    <a:pt x="18400" y="0"/>
                    <a:pt x="25042" y="0"/>
                  </a:cubicBezTo>
                  <a:close/>
                </a:path>
              </a:pathLst>
            </a:custGeom>
            <a:solidFill>
              <a:srgbClr val="101D56"/>
            </a:solidFill>
          </p:spPr>
        </p:sp>
        <p:sp>
          <p:nvSpPr>
            <p:cNvPr name="TextBox 11" id="11"/>
            <p:cNvSpPr txBox="true"/>
            <p:nvPr/>
          </p:nvSpPr>
          <p:spPr>
            <a:xfrm>
              <a:off x="0" y="-47625"/>
              <a:ext cx="2442746" cy="618829"/>
            </a:xfrm>
            <a:prstGeom prst="rect">
              <a:avLst/>
            </a:prstGeom>
          </p:spPr>
          <p:txBody>
            <a:bodyPr anchor="ctr" rtlCol="false" tIns="50800" lIns="50800" bIns="50800" rIns="50800"/>
            <a:lstStyle/>
            <a:p>
              <a:pPr algn="ctr">
                <a:lnSpc>
                  <a:spcPts val="3499"/>
                </a:lnSpc>
              </a:pPr>
            </a:p>
          </p:txBody>
        </p:sp>
      </p:grpSp>
      <p:sp>
        <p:nvSpPr>
          <p:cNvPr name="Freeform 12" id="12"/>
          <p:cNvSpPr/>
          <p:nvPr/>
        </p:nvSpPr>
        <p:spPr>
          <a:xfrm flipH="false" flipV="false" rot="0">
            <a:off x="16554283" y="8460857"/>
            <a:ext cx="1733717" cy="1733717"/>
          </a:xfrm>
          <a:custGeom>
            <a:avLst/>
            <a:gdLst/>
            <a:ahLst/>
            <a:cxnLst/>
            <a:rect r="r" b="b" t="t" l="l"/>
            <a:pathLst>
              <a:path h="1733717" w="1733717">
                <a:moveTo>
                  <a:pt x="0" y="0"/>
                </a:moveTo>
                <a:lnTo>
                  <a:pt x="1733717" y="0"/>
                </a:lnTo>
                <a:lnTo>
                  <a:pt x="1733717" y="1733716"/>
                </a:lnTo>
                <a:lnTo>
                  <a:pt x="0" y="1733716"/>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true" flipV="false" rot="0">
            <a:off x="0" y="8460857"/>
            <a:ext cx="1733717" cy="1733717"/>
          </a:xfrm>
          <a:custGeom>
            <a:avLst/>
            <a:gdLst/>
            <a:ahLst/>
            <a:cxnLst/>
            <a:rect r="r" b="b" t="t" l="l"/>
            <a:pathLst>
              <a:path h="1733717" w="1733717">
                <a:moveTo>
                  <a:pt x="1733717" y="0"/>
                </a:moveTo>
                <a:lnTo>
                  <a:pt x="0" y="0"/>
                </a:lnTo>
                <a:lnTo>
                  <a:pt x="0" y="1733716"/>
                </a:lnTo>
                <a:lnTo>
                  <a:pt x="1733717" y="1733716"/>
                </a:lnTo>
                <a:lnTo>
                  <a:pt x="1733717"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4506600" y="972184"/>
            <a:ext cx="9517359" cy="1005840"/>
          </a:xfrm>
          <a:prstGeom prst="rect">
            <a:avLst/>
          </a:prstGeom>
        </p:spPr>
        <p:txBody>
          <a:bodyPr anchor="t" rtlCol="false" tIns="0" lIns="0" bIns="0" rIns="0">
            <a:spAutoFit/>
          </a:bodyPr>
          <a:lstStyle/>
          <a:p>
            <a:pPr algn="ctr">
              <a:lnSpc>
                <a:spcPts val="7559"/>
              </a:lnSpc>
            </a:pPr>
            <a:r>
              <a:rPr lang="en-US" b="true" sz="5400">
                <a:solidFill>
                  <a:srgbClr val="FFFFFF"/>
                </a:solidFill>
                <a:latin typeface="Helvetica World Bold"/>
                <a:ea typeface="Helvetica World Bold"/>
                <a:cs typeface="Helvetica World Bold"/>
                <a:sym typeface="Helvetica World Bold"/>
              </a:rPr>
              <a:t>A. MOTODE PENELITIAN </a:t>
            </a:r>
          </a:p>
        </p:txBody>
      </p:sp>
      <p:sp>
        <p:nvSpPr>
          <p:cNvPr name="TextBox 15" id="15"/>
          <p:cNvSpPr txBox="true"/>
          <p:nvPr/>
        </p:nvSpPr>
        <p:spPr>
          <a:xfrm rot="0">
            <a:off x="7753933" y="5096135"/>
            <a:ext cx="2780134" cy="1294030"/>
          </a:xfrm>
          <a:prstGeom prst="rect">
            <a:avLst/>
          </a:prstGeom>
        </p:spPr>
        <p:txBody>
          <a:bodyPr anchor="t" rtlCol="false" tIns="0" lIns="0" bIns="0" rIns="0">
            <a:spAutoFit/>
          </a:bodyPr>
          <a:lstStyle/>
          <a:p>
            <a:pPr algn="ctr">
              <a:lnSpc>
                <a:spcPts val="3220"/>
              </a:lnSpc>
            </a:pPr>
            <a:r>
              <a:rPr lang="en-US" b="true" sz="2300">
                <a:solidFill>
                  <a:srgbClr val="FFFFFF"/>
                </a:solidFill>
                <a:latin typeface="Helvetica World Bold"/>
                <a:ea typeface="Helvetica World Bold"/>
                <a:cs typeface="Helvetica World Bold"/>
                <a:sym typeface="Helvetica World Bold"/>
              </a:rPr>
              <a:t>EXCELLENCE IN INNOVATION AWARD 2022.</a:t>
            </a:r>
          </a:p>
        </p:txBody>
      </p:sp>
      <p:sp>
        <p:nvSpPr>
          <p:cNvPr name="TextBox 16" id="16"/>
          <p:cNvSpPr txBox="true"/>
          <p:nvPr/>
        </p:nvSpPr>
        <p:spPr>
          <a:xfrm rot="0">
            <a:off x="368638" y="2390411"/>
            <a:ext cx="17919362" cy="6697298"/>
          </a:xfrm>
          <a:prstGeom prst="rect">
            <a:avLst/>
          </a:prstGeom>
        </p:spPr>
        <p:txBody>
          <a:bodyPr anchor="t" rtlCol="false" tIns="0" lIns="0" bIns="0" rIns="0">
            <a:spAutoFit/>
          </a:bodyPr>
          <a:lstStyle/>
          <a:p>
            <a:pPr algn="l">
              <a:lnSpc>
                <a:spcPts val="5319"/>
              </a:lnSpc>
            </a:pPr>
            <a:r>
              <a:rPr lang="en-US" sz="3799">
                <a:solidFill>
                  <a:srgbClr val="000000"/>
                </a:solidFill>
                <a:latin typeface="Archivo Black"/>
                <a:ea typeface="Archivo Black"/>
                <a:cs typeface="Archivo Black"/>
                <a:sym typeface="Archivo Black"/>
              </a:rPr>
              <a:t>Menggunakan pendekatan Kualitatif yang bersifat Deskriptif. menurut Straus dan Corbin penelitian kualitatif merupakan suatu proses penelitian yang menggunakan data deskriptif berupa kata-kata tertulis atau lisan yang dapat diamati. Adapun tujuan dari penelitian deskriptif adalah untuk membuat perencanaan secara sistematis, faktual, dan akurat mengenai fakta dan sifat populasi atau daerah tertentu. Penelitian ini digunakan untuk mengetahui bagaimana Strategi guru PAI dalam pembinaan pola Interaksi sosial siswa di SDN 02 sialang, Kecamatan kapur IX, kabupaten lima puluh kota.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924115" y="7853111"/>
            <a:ext cx="20136229" cy="3043999"/>
            <a:chOff x="0" y="0"/>
            <a:chExt cx="5303369" cy="801712"/>
          </a:xfrm>
        </p:grpSpPr>
        <p:sp>
          <p:nvSpPr>
            <p:cNvPr name="Freeform 4" id="4"/>
            <p:cNvSpPr/>
            <p:nvPr/>
          </p:nvSpPr>
          <p:spPr>
            <a:xfrm flipH="false" flipV="false" rot="0">
              <a:off x="0" y="0"/>
              <a:ext cx="5303369" cy="801712"/>
            </a:xfrm>
            <a:custGeom>
              <a:avLst/>
              <a:gdLst/>
              <a:ahLst/>
              <a:cxnLst/>
              <a:rect r="r" b="b" t="t" l="l"/>
              <a:pathLst>
                <a:path h="801712" w="5303369">
                  <a:moveTo>
                    <a:pt x="0" y="0"/>
                  </a:moveTo>
                  <a:lnTo>
                    <a:pt x="5303369" y="0"/>
                  </a:lnTo>
                  <a:lnTo>
                    <a:pt x="5303369" y="801712"/>
                  </a:lnTo>
                  <a:lnTo>
                    <a:pt x="0" y="801712"/>
                  </a:lnTo>
                  <a:close/>
                </a:path>
              </a:pathLst>
            </a:custGeom>
            <a:solidFill>
              <a:srgbClr val="101D56"/>
            </a:solidFill>
          </p:spPr>
        </p:sp>
        <p:sp>
          <p:nvSpPr>
            <p:cNvPr name="TextBox 5" id="5"/>
            <p:cNvSpPr txBox="true"/>
            <p:nvPr/>
          </p:nvSpPr>
          <p:spPr>
            <a:xfrm>
              <a:off x="0" y="-47625"/>
              <a:ext cx="5303369" cy="849337"/>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10534067" y="864667"/>
            <a:ext cx="6725233" cy="1633925"/>
            <a:chOff x="0" y="0"/>
            <a:chExt cx="1771255" cy="430334"/>
          </a:xfrm>
        </p:grpSpPr>
        <p:sp>
          <p:nvSpPr>
            <p:cNvPr name="Freeform 7" id="7"/>
            <p:cNvSpPr/>
            <p:nvPr/>
          </p:nvSpPr>
          <p:spPr>
            <a:xfrm flipH="false" flipV="false" rot="0">
              <a:off x="0" y="0"/>
              <a:ext cx="1771255" cy="430334"/>
            </a:xfrm>
            <a:custGeom>
              <a:avLst/>
              <a:gdLst/>
              <a:ahLst/>
              <a:cxnLst/>
              <a:rect r="r" b="b" t="t" l="l"/>
              <a:pathLst>
                <a:path h="430334" w="1771255">
                  <a:moveTo>
                    <a:pt x="25326" y="0"/>
                  </a:moveTo>
                  <a:lnTo>
                    <a:pt x="1745929" y="0"/>
                  </a:lnTo>
                  <a:cubicBezTo>
                    <a:pt x="1759916" y="0"/>
                    <a:pt x="1771255" y="11339"/>
                    <a:pt x="1771255" y="25326"/>
                  </a:cubicBezTo>
                  <a:lnTo>
                    <a:pt x="1771255" y="405008"/>
                  </a:lnTo>
                  <a:cubicBezTo>
                    <a:pt x="1771255" y="418995"/>
                    <a:pt x="1759916" y="430334"/>
                    <a:pt x="1745929" y="430334"/>
                  </a:cubicBezTo>
                  <a:lnTo>
                    <a:pt x="25326" y="430334"/>
                  </a:lnTo>
                  <a:cubicBezTo>
                    <a:pt x="11339" y="430334"/>
                    <a:pt x="0" y="418995"/>
                    <a:pt x="0" y="405008"/>
                  </a:cubicBezTo>
                  <a:lnTo>
                    <a:pt x="0" y="25326"/>
                  </a:lnTo>
                  <a:cubicBezTo>
                    <a:pt x="0" y="11339"/>
                    <a:pt x="11339" y="0"/>
                    <a:pt x="25326" y="0"/>
                  </a:cubicBezTo>
                  <a:close/>
                </a:path>
              </a:pathLst>
            </a:custGeom>
            <a:solidFill>
              <a:srgbClr val="3A6B95"/>
            </a:solidFill>
          </p:spPr>
        </p:sp>
        <p:sp>
          <p:nvSpPr>
            <p:cNvPr name="TextBox 8" id="8"/>
            <p:cNvSpPr txBox="true"/>
            <p:nvPr/>
          </p:nvSpPr>
          <p:spPr>
            <a:xfrm>
              <a:off x="0" y="-47625"/>
              <a:ext cx="1771255" cy="477959"/>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640337" y="-1218468"/>
            <a:ext cx="9274800" cy="2083136"/>
            <a:chOff x="0" y="0"/>
            <a:chExt cx="2442746" cy="548645"/>
          </a:xfrm>
        </p:grpSpPr>
        <p:sp>
          <p:nvSpPr>
            <p:cNvPr name="Freeform 10" id="10"/>
            <p:cNvSpPr/>
            <p:nvPr/>
          </p:nvSpPr>
          <p:spPr>
            <a:xfrm flipH="false" flipV="false" rot="0">
              <a:off x="0" y="0"/>
              <a:ext cx="2442746" cy="548645"/>
            </a:xfrm>
            <a:custGeom>
              <a:avLst/>
              <a:gdLst/>
              <a:ahLst/>
              <a:cxnLst/>
              <a:rect r="r" b="b" t="t" l="l"/>
              <a:pathLst>
                <a:path h="548645" w="2442746">
                  <a:moveTo>
                    <a:pt x="25042" y="0"/>
                  </a:moveTo>
                  <a:lnTo>
                    <a:pt x="2417704" y="0"/>
                  </a:lnTo>
                  <a:cubicBezTo>
                    <a:pt x="2431534" y="0"/>
                    <a:pt x="2442746" y="11212"/>
                    <a:pt x="2442746" y="25042"/>
                  </a:cubicBezTo>
                  <a:lnTo>
                    <a:pt x="2442746" y="523603"/>
                  </a:lnTo>
                  <a:cubicBezTo>
                    <a:pt x="2442746" y="530244"/>
                    <a:pt x="2440107" y="536614"/>
                    <a:pt x="2435411" y="541310"/>
                  </a:cubicBezTo>
                  <a:cubicBezTo>
                    <a:pt x="2430715" y="546006"/>
                    <a:pt x="2424345" y="548645"/>
                    <a:pt x="2417704" y="548645"/>
                  </a:cubicBezTo>
                  <a:lnTo>
                    <a:pt x="25042" y="548645"/>
                  </a:lnTo>
                  <a:cubicBezTo>
                    <a:pt x="18400" y="548645"/>
                    <a:pt x="12031" y="546006"/>
                    <a:pt x="7335" y="541310"/>
                  </a:cubicBezTo>
                  <a:cubicBezTo>
                    <a:pt x="2638" y="536614"/>
                    <a:pt x="0" y="530244"/>
                    <a:pt x="0" y="523603"/>
                  </a:cubicBezTo>
                  <a:lnTo>
                    <a:pt x="0" y="25042"/>
                  </a:lnTo>
                  <a:cubicBezTo>
                    <a:pt x="0" y="18400"/>
                    <a:pt x="2638" y="12031"/>
                    <a:pt x="7335" y="7335"/>
                  </a:cubicBezTo>
                  <a:cubicBezTo>
                    <a:pt x="12031" y="2638"/>
                    <a:pt x="18400" y="0"/>
                    <a:pt x="25042" y="0"/>
                  </a:cubicBezTo>
                  <a:close/>
                </a:path>
              </a:pathLst>
            </a:custGeom>
            <a:solidFill>
              <a:srgbClr val="101D56"/>
            </a:solidFill>
          </p:spPr>
        </p:sp>
        <p:sp>
          <p:nvSpPr>
            <p:cNvPr name="TextBox 11" id="11"/>
            <p:cNvSpPr txBox="true"/>
            <p:nvPr/>
          </p:nvSpPr>
          <p:spPr>
            <a:xfrm>
              <a:off x="0" y="-47625"/>
              <a:ext cx="2442746" cy="596270"/>
            </a:xfrm>
            <a:prstGeom prst="rect">
              <a:avLst/>
            </a:prstGeom>
          </p:spPr>
          <p:txBody>
            <a:bodyPr anchor="ctr" rtlCol="false" tIns="50800" lIns="50800" bIns="50800" rIns="50800"/>
            <a:lstStyle/>
            <a:p>
              <a:pPr algn="ctr">
                <a:lnSpc>
                  <a:spcPts val="3499"/>
                </a:lnSpc>
              </a:pPr>
            </a:p>
          </p:txBody>
        </p:sp>
      </p:grpSp>
      <p:sp>
        <p:nvSpPr>
          <p:cNvPr name="Freeform 12" id="12"/>
          <p:cNvSpPr/>
          <p:nvPr/>
        </p:nvSpPr>
        <p:spPr>
          <a:xfrm flipH="false" flipV="false" rot="0">
            <a:off x="16554283" y="8460857"/>
            <a:ext cx="1733717" cy="1733717"/>
          </a:xfrm>
          <a:custGeom>
            <a:avLst/>
            <a:gdLst/>
            <a:ahLst/>
            <a:cxnLst/>
            <a:rect r="r" b="b" t="t" l="l"/>
            <a:pathLst>
              <a:path h="1733717" w="1733717">
                <a:moveTo>
                  <a:pt x="0" y="0"/>
                </a:moveTo>
                <a:lnTo>
                  <a:pt x="1733717" y="0"/>
                </a:lnTo>
                <a:lnTo>
                  <a:pt x="1733717" y="1733716"/>
                </a:lnTo>
                <a:lnTo>
                  <a:pt x="0" y="1733716"/>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true" flipV="false" rot="0">
            <a:off x="0" y="8460857"/>
            <a:ext cx="1733717" cy="1733717"/>
          </a:xfrm>
          <a:custGeom>
            <a:avLst/>
            <a:gdLst/>
            <a:ahLst/>
            <a:cxnLst/>
            <a:rect r="r" b="b" t="t" l="l"/>
            <a:pathLst>
              <a:path h="1733717" w="1733717">
                <a:moveTo>
                  <a:pt x="1733717" y="0"/>
                </a:moveTo>
                <a:lnTo>
                  <a:pt x="0" y="0"/>
                </a:lnTo>
                <a:lnTo>
                  <a:pt x="0" y="1733716"/>
                </a:lnTo>
                <a:lnTo>
                  <a:pt x="1733717" y="1733716"/>
                </a:lnTo>
                <a:lnTo>
                  <a:pt x="1733717"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42419" y="2577333"/>
            <a:ext cx="5063345" cy="436879"/>
          </a:xfrm>
          <a:prstGeom prst="rect">
            <a:avLst/>
          </a:prstGeom>
        </p:spPr>
        <p:txBody>
          <a:bodyPr anchor="t" rtlCol="false" tIns="0" lIns="0" bIns="0" rIns="0">
            <a:spAutoFit/>
          </a:bodyPr>
          <a:lstStyle/>
          <a:p>
            <a:pPr algn="ctr">
              <a:lnSpc>
                <a:spcPts val="3220"/>
              </a:lnSpc>
            </a:pPr>
            <a:r>
              <a:rPr lang="en-US" b="true" sz="2300">
                <a:solidFill>
                  <a:srgbClr val="FFFFFF"/>
                </a:solidFill>
                <a:latin typeface="Helvetica World Bold"/>
                <a:ea typeface="Helvetica World Bold"/>
                <a:cs typeface="Helvetica World Bold"/>
                <a:sym typeface="Helvetica World Bold"/>
              </a:rPr>
              <a:t>A. MOTODE PENELITIAN </a:t>
            </a:r>
          </a:p>
        </p:txBody>
      </p:sp>
      <p:sp>
        <p:nvSpPr>
          <p:cNvPr name="TextBox 15" id="15"/>
          <p:cNvSpPr txBox="true"/>
          <p:nvPr/>
        </p:nvSpPr>
        <p:spPr>
          <a:xfrm rot="0">
            <a:off x="7753933" y="5096135"/>
            <a:ext cx="2780134" cy="1294030"/>
          </a:xfrm>
          <a:prstGeom prst="rect">
            <a:avLst/>
          </a:prstGeom>
        </p:spPr>
        <p:txBody>
          <a:bodyPr anchor="t" rtlCol="false" tIns="0" lIns="0" bIns="0" rIns="0">
            <a:spAutoFit/>
          </a:bodyPr>
          <a:lstStyle/>
          <a:p>
            <a:pPr algn="ctr">
              <a:lnSpc>
                <a:spcPts val="3220"/>
              </a:lnSpc>
            </a:pPr>
            <a:r>
              <a:rPr lang="en-US" b="true" sz="2300">
                <a:solidFill>
                  <a:srgbClr val="FFFFFF"/>
                </a:solidFill>
                <a:latin typeface="Helvetica World Bold"/>
                <a:ea typeface="Helvetica World Bold"/>
                <a:cs typeface="Helvetica World Bold"/>
                <a:sym typeface="Helvetica World Bold"/>
              </a:rPr>
              <a:t>EXCELLENCE IN INNOVATION AWARD 2022.</a:t>
            </a:r>
          </a:p>
        </p:txBody>
      </p:sp>
      <p:sp>
        <p:nvSpPr>
          <p:cNvPr name="TextBox 16" id="16"/>
          <p:cNvSpPr txBox="true"/>
          <p:nvPr/>
        </p:nvSpPr>
        <p:spPr>
          <a:xfrm rot="0">
            <a:off x="11215476" y="942975"/>
            <a:ext cx="5362415" cy="1365885"/>
          </a:xfrm>
          <a:prstGeom prst="rect">
            <a:avLst/>
          </a:prstGeom>
        </p:spPr>
        <p:txBody>
          <a:bodyPr anchor="t" rtlCol="false" tIns="0" lIns="0" bIns="0" rIns="0">
            <a:spAutoFit/>
          </a:bodyPr>
          <a:lstStyle/>
          <a:p>
            <a:pPr algn="ctr">
              <a:lnSpc>
                <a:spcPts val="5040"/>
              </a:lnSpc>
            </a:pPr>
            <a:r>
              <a:rPr lang="en-US" b="true" sz="3600">
                <a:solidFill>
                  <a:srgbClr val="FFFFFF"/>
                </a:solidFill>
                <a:latin typeface="Helvetica World Bold"/>
                <a:ea typeface="Helvetica World Bold"/>
                <a:cs typeface="Helvetica World Bold"/>
                <a:sym typeface="Helvetica World Bold"/>
              </a:rPr>
              <a:t>C. TEKNIK PENGUMPULAN DATA</a:t>
            </a:r>
          </a:p>
        </p:txBody>
      </p:sp>
      <p:sp>
        <p:nvSpPr>
          <p:cNvPr name="TextBox 17" id="17"/>
          <p:cNvSpPr txBox="true"/>
          <p:nvPr/>
        </p:nvSpPr>
        <p:spPr>
          <a:xfrm rot="0">
            <a:off x="10534067" y="2748147"/>
            <a:ext cx="7178785" cy="4582795"/>
          </a:xfrm>
          <a:prstGeom prst="rect">
            <a:avLst/>
          </a:prstGeom>
        </p:spPr>
        <p:txBody>
          <a:bodyPr anchor="t" rtlCol="false" tIns="0" lIns="0" bIns="0" rIns="0">
            <a:spAutoFit/>
          </a:bodyPr>
          <a:lstStyle/>
          <a:p>
            <a:pPr algn="l" marL="798829" indent="-399415" lvl="1">
              <a:lnSpc>
                <a:spcPts val="5179"/>
              </a:lnSpc>
              <a:buAutoNum type="arabicPeriod" startAt="1"/>
            </a:pPr>
            <a:r>
              <a:rPr lang="en-US" sz="3699">
                <a:solidFill>
                  <a:srgbClr val="000000"/>
                </a:solidFill>
                <a:latin typeface="Archivo Black"/>
                <a:ea typeface="Archivo Black"/>
                <a:cs typeface="Archivo Black"/>
                <a:sym typeface="Archivo Black"/>
              </a:rPr>
              <a:t>Observasi</a:t>
            </a:r>
          </a:p>
          <a:p>
            <a:pPr algn="l" marL="798829" indent="-399415" lvl="1">
              <a:lnSpc>
                <a:spcPts val="5179"/>
              </a:lnSpc>
              <a:buAutoNum type="arabicPeriod" startAt="1"/>
            </a:pPr>
            <a:r>
              <a:rPr lang="en-US" sz="3699">
                <a:solidFill>
                  <a:srgbClr val="000000"/>
                </a:solidFill>
                <a:latin typeface="Archivo Black"/>
                <a:ea typeface="Archivo Black"/>
                <a:cs typeface="Archivo Black"/>
                <a:sym typeface="Archivo Black"/>
              </a:rPr>
              <a:t>Wawancara</a:t>
            </a:r>
          </a:p>
          <a:p>
            <a:pPr algn="l" marL="798829" indent="-399415" lvl="1">
              <a:lnSpc>
                <a:spcPts val="5179"/>
              </a:lnSpc>
              <a:buFont typeface="Arial"/>
              <a:buChar char="•"/>
            </a:pPr>
            <a:r>
              <a:rPr lang="en-US" sz="3699">
                <a:solidFill>
                  <a:srgbClr val="000000"/>
                </a:solidFill>
                <a:latin typeface="Archivo Black"/>
                <a:ea typeface="Archivo Black"/>
                <a:cs typeface="Archivo Black"/>
                <a:sym typeface="Archivo Black"/>
              </a:rPr>
              <a:t>Informan kunci : Guru Pendidikan Agama Islam</a:t>
            </a:r>
          </a:p>
          <a:p>
            <a:pPr algn="l" marL="798829" indent="-399415" lvl="1">
              <a:lnSpc>
                <a:spcPts val="5179"/>
              </a:lnSpc>
              <a:buFont typeface="Arial"/>
              <a:buChar char="•"/>
            </a:pPr>
            <a:r>
              <a:rPr lang="en-US" sz="3699">
                <a:solidFill>
                  <a:srgbClr val="000000"/>
                </a:solidFill>
                <a:latin typeface="Archivo Black"/>
                <a:ea typeface="Archivo Black"/>
                <a:cs typeface="Archivo Black"/>
                <a:sym typeface="Archivo Black"/>
              </a:rPr>
              <a:t>Informan Pendukung : Siswa- siswi kelas 5</a:t>
            </a:r>
          </a:p>
          <a:p>
            <a:pPr algn="l" marL="798829" indent="-399415" lvl="1">
              <a:lnSpc>
                <a:spcPts val="5179"/>
              </a:lnSpc>
              <a:buAutoNum type="arabicPeriod" startAt="1"/>
            </a:pPr>
            <a:r>
              <a:rPr lang="en-US" sz="3699">
                <a:solidFill>
                  <a:srgbClr val="000000"/>
                </a:solidFill>
                <a:latin typeface="Archivo Black"/>
                <a:ea typeface="Archivo Black"/>
                <a:cs typeface="Archivo Black"/>
                <a:sym typeface="Archivo Black"/>
              </a:rPr>
              <a:t>Dokumentasi</a:t>
            </a:r>
          </a:p>
        </p:txBody>
      </p:sp>
      <p:sp>
        <p:nvSpPr>
          <p:cNvPr name="TextBox 18" id="18"/>
          <p:cNvSpPr txBox="true"/>
          <p:nvPr/>
        </p:nvSpPr>
        <p:spPr>
          <a:xfrm rot="0">
            <a:off x="855402" y="3680090"/>
            <a:ext cx="8700723" cy="3813810"/>
          </a:xfrm>
          <a:prstGeom prst="rect">
            <a:avLst/>
          </a:prstGeom>
        </p:spPr>
        <p:txBody>
          <a:bodyPr anchor="t" rtlCol="false" tIns="0" lIns="0" bIns="0" rIns="0">
            <a:spAutoFit/>
          </a:bodyPr>
          <a:lstStyle/>
          <a:p>
            <a:pPr algn="l" marL="777240" indent="-388620" lvl="1">
              <a:lnSpc>
                <a:spcPts val="5040"/>
              </a:lnSpc>
              <a:buAutoNum type="arabicPeriod" startAt="1"/>
            </a:pPr>
            <a:r>
              <a:rPr lang="en-US" sz="3600">
                <a:solidFill>
                  <a:srgbClr val="000000"/>
                </a:solidFill>
                <a:latin typeface="Archivo Black"/>
                <a:ea typeface="Archivo Black"/>
                <a:cs typeface="Archivo Black"/>
                <a:sym typeface="Archivo Black"/>
              </a:rPr>
              <a:t>Tempat penelitia di SDN 02 Sialang, Kecamatan Kapur IX, Kabupaten Lima Puluh Kota</a:t>
            </a:r>
          </a:p>
          <a:p>
            <a:pPr algn="l" marL="777240" indent="-388620" lvl="1">
              <a:lnSpc>
                <a:spcPts val="5040"/>
              </a:lnSpc>
              <a:buAutoNum type="arabicPeriod" startAt="1"/>
            </a:pPr>
            <a:r>
              <a:rPr lang="en-US" sz="3600">
                <a:solidFill>
                  <a:srgbClr val="000000"/>
                </a:solidFill>
                <a:latin typeface="Archivo Black"/>
                <a:ea typeface="Archivo Black"/>
                <a:cs typeface="Archivo Black"/>
                <a:sym typeface="Archivo Black"/>
              </a:rPr>
              <a:t>Waktu penelitia, selama penyusunan Proposal Skripsi berlangsung</a:t>
            </a:r>
          </a:p>
        </p:txBody>
      </p:sp>
      <p:grpSp>
        <p:nvGrpSpPr>
          <p:cNvPr name="Group 19" id="19"/>
          <p:cNvGrpSpPr/>
          <p:nvPr/>
        </p:nvGrpSpPr>
        <p:grpSpPr>
          <a:xfrm rot="0">
            <a:off x="1028700" y="2052312"/>
            <a:ext cx="5895953" cy="1344768"/>
            <a:chOff x="0" y="0"/>
            <a:chExt cx="1552844" cy="354178"/>
          </a:xfrm>
        </p:grpSpPr>
        <p:sp>
          <p:nvSpPr>
            <p:cNvPr name="Freeform 20" id="20"/>
            <p:cNvSpPr/>
            <p:nvPr/>
          </p:nvSpPr>
          <p:spPr>
            <a:xfrm flipH="false" flipV="false" rot="0">
              <a:off x="0" y="0"/>
              <a:ext cx="1552844" cy="354178"/>
            </a:xfrm>
            <a:custGeom>
              <a:avLst/>
              <a:gdLst/>
              <a:ahLst/>
              <a:cxnLst/>
              <a:rect r="r" b="b" t="t" l="l"/>
              <a:pathLst>
                <a:path h="354178" w="1552844">
                  <a:moveTo>
                    <a:pt x="28888" y="0"/>
                  </a:moveTo>
                  <a:lnTo>
                    <a:pt x="1523956" y="0"/>
                  </a:lnTo>
                  <a:cubicBezTo>
                    <a:pt x="1539910" y="0"/>
                    <a:pt x="1552844" y="12934"/>
                    <a:pt x="1552844" y="28888"/>
                  </a:cubicBezTo>
                  <a:lnTo>
                    <a:pt x="1552844" y="325290"/>
                  </a:lnTo>
                  <a:cubicBezTo>
                    <a:pt x="1552844" y="332951"/>
                    <a:pt x="1549800" y="340299"/>
                    <a:pt x="1544383" y="345717"/>
                  </a:cubicBezTo>
                  <a:cubicBezTo>
                    <a:pt x="1538965" y="351134"/>
                    <a:pt x="1531617" y="354178"/>
                    <a:pt x="1523956" y="354178"/>
                  </a:cubicBezTo>
                  <a:lnTo>
                    <a:pt x="28888" y="354178"/>
                  </a:lnTo>
                  <a:cubicBezTo>
                    <a:pt x="12934" y="354178"/>
                    <a:pt x="0" y="341244"/>
                    <a:pt x="0" y="325290"/>
                  </a:cubicBezTo>
                  <a:lnTo>
                    <a:pt x="0" y="28888"/>
                  </a:lnTo>
                  <a:cubicBezTo>
                    <a:pt x="0" y="21226"/>
                    <a:pt x="3044" y="13879"/>
                    <a:pt x="8461" y="8461"/>
                  </a:cubicBezTo>
                  <a:cubicBezTo>
                    <a:pt x="13879" y="3044"/>
                    <a:pt x="21226" y="0"/>
                    <a:pt x="28888" y="0"/>
                  </a:cubicBezTo>
                  <a:close/>
                </a:path>
              </a:pathLst>
            </a:custGeom>
            <a:solidFill>
              <a:srgbClr val="3A6B95"/>
            </a:solidFill>
          </p:spPr>
        </p:sp>
        <p:sp>
          <p:nvSpPr>
            <p:cNvPr name="TextBox 21" id="21"/>
            <p:cNvSpPr txBox="true"/>
            <p:nvPr/>
          </p:nvSpPr>
          <p:spPr>
            <a:xfrm>
              <a:off x="0" y="-47625"/>
              <a:ext cx="1552844" cy="401803"/>
            </a:xfrm>
            <a:prstGeom prst="rect">
              <a:avLst/>
            </a:prstGeom>
          </p:spPr>
          <p:txBody>
            <a:bodyPr anchor="ctr" rtlCol="false" tIns="50800" lIns="50800" bIns="50800" rIns="50800"/>
            <a:lstStyle/>
            <a:p>
              <a:pPr algn="ctr">
                <a:lnSpc>
                  <a:spcPts val="3499"/>
                </a:lnSpc>
              </a:pPr>
            </a:p>
          </p:txBody>
        </p:sp>
      </p:grpSp>
      <p:sp>
        <p:nvSpPr>
          <p:cNvPr name="TextBox 22" id="22"/>
          <p:cNvSpPr txBox="true"/>
          <p:nvPr/>
        </p:nvSpPr>
        <p:spPr>
          <a:xfrm rot="0">
            <a:off x="-915434" y="2115015"/>
            <a:ext cx="10059434" cy="1245275"/>
          </a:xfrm>
          <a:prstGeom prst="rect">
            <a:avLst/>
          </a:prstGeom>
        </p:spPr>
        <p:txBody>
          <a:bodyPr anchor="t" rtlCol="false" tIns="0" lIns="0" bIns="0" rIns="0">
            <a:spAutoFit/>
          </a:bodyPr>
          <a:lstStyle/>
          <a:p>
            <a:pPr algn="ctr">
              <a:lnSpc>
                <a:spcPts val="4602"/>
              </a:lnSpc>
            </a:pPr>
            <a:r>
              <a:rPr lang="en-US" b="true" sz="3287">
                <a:solidFill>
                  <a:srgbClr val="FFFFFF"/>
                </a:solidFill>
                <a:latin typeface="Helvetica World Bold"/>
                <a:ea typeface="Helvetica World Bold"/>
                <a:cs typeface="Helvetica World Bold"/>
                <a:sym typeface="Helvetica World Bold"/>
              </a:rPr>
              <a:t>B. TEMPAT DAN WAKTU</a:t>
            </a:r>
          </a:p>
          <a:p>
            <a:pPr algn="ctr">
              <a:lnSpc>
                <a:spcPts val="4602"/>
              </a:lnSpc>
            </a:pPr>
            <a:r>
              <a:rPr lang="en-US" b="true" sz="3287">
                <a:solidFill>
                  <a:srgbClr val="FFFFFF"/>
                </a:solidFill>
                <a:latin typeface="Helvetica World Bold"/>
                <a:ea typeface="Helvetica World Bold"/>
                <a:cs typeface="Helvetica World Bold"/>
                <a:sym typeface="Helvetica World Bold"/>
              </a:rPr>
              <a:t>PENELITIAN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3191" t="0" r="-3191" b="0"/>
            </a:stretch>
          </a:blipFill>
        </p:spPr>
      </p:sp>
      <p:grpSp>
        <p:nvGrpSpPr>
          <p:cNvPr name="Group 3" id="3"/>
          <p:cNvGrpSpPr/>
          <p:nvPr/>
        </p:nvGrpSpPr>
        <p:grpSpPr>
          <a:xfrm rot="0">
            <a:off x="-924115" y="7853111"/>
            <a:ext cx="20136229" cy="3043999"/>
            <a:chOff x="0" y="0"/>
            <a:chExt cx="5303369" cy="801712"/>
          </a:xfrm>
        </p:grpSpPr>
        <p:sp>
          <p:nvSpPr>
            <p:cNvPr name="Freeform 4" id="4"/>
            <p:cNvSpPr/>
            <p:nvPr/>
          </p:nvSpPr>
          <p:spPr>
            <a:xfrm flipH="false" flipV="false" rot="0">
              <a:off x="0" y="0"/>
              <a:ext cx="5303369" cy="801712"/>
            </a:xfrm>
            <a:custGeom>
              <a:avLst/>
              <a:gdLst/>
              <a:ahLst/>
              <a:cxnLst/>
              <a:rect r="r" b="b" t="t" l="l"/>
              <a:pathLst>
                <a:path h="801712" w="5303369">
                  <a:moveTo>
                    <a:pt x="0" y="0"/>
                  </a:moveTo>
                  <a:lnTo>
                    <a:pt x="5303369" y="0"/>
                  </a:lnTo>
                  <a:lnTo>
                    <a:pt x="5303369" y="801712"/>
                  </a:lnTo>
                  <a:lnTo>
                    <a:pt x="0" y="801712"/>
                  </a:lnTo>
                  <a:close/>
                </a:path>
              </a:pathLst>
            </a:custGeom>
            <a:solidFill>
              <a:srgbClr val="101D56"/>
            </a:solidFill>
          </p:spPr>
        </p:sp>
        <p:sp>
          <p:nvSpPr>
            <p:cNvPr name="TextBox 5" id="5"/>
            <p:cNvSpPr txBox="true"/>
            <p:nvPr/>
          </p:nvSpPr>
          <p:spPr>
            <a:xfrm>
              <a:off x="0" y="-47625"/>
              <a:ext cx="5303369" cy="849337"/>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397744" y="1350766"/>
            <a:ext cx="4808020" cy="1358911"/>
            <a:chOff x="0" y="0"/>
            <a:chExt cx="1266310" cy="357902"/>
          </a:xfrm>
        </p:grpSpPr>
        <p:sp>
          <p:nvSpPr>
            <p:cNvPr name="Freeform 7" id="7"/>
            <p:cNvSpPr/>
            <p:nvPr/>
          </p:nvSpPr>
          <p:spPr>
            <a:xfrm flipH="false" flipV="false" rot="0">
              <a:off x="0" y="0"/>
              <a:ext cx="1266310" cy="357902"/>
            </a:xfrm>
            <a:custGeom>
              <a:avLst/>
              <a:gdLst/>
              <a:ahLst/>
              <a:cxnLst/>
              <a:rect r="r" b="b" t="t" l="l"/>
              <a:pathLst>
                <a:path h="357902" w="1266310">
                  <a:moveTo>
                    <a:pt x="35425" y="0"/>
                  </a:moveTo>
                  <a:lnTo>
                    <a:pt x="1230885" y="0"/>
                  </a:lnTo>
                  <a:cubicBezTo>
                    <a:pt x="1240280" y="0"/>
                    <a:pt x="1249291" y="3732"/>
                    <a:pt x="1255934" y="10376"/>
                  </a:cubicBezTo>
                  <a:cubicBezTo>
                    <a:pt x="1262578" y="17019"/>
                    <a:pt x="1266310" y="26029"/>
                    <a:pt x="1266310" y="35425"/>
                  </a:cubicBezTo>
                  <a:lnTo>
                    <a:pt x="1266310" y="322478"/>
                  </a:lnTo>
                  <a:cubicBezTo>
                    <a:pt x="1266310" y="342042"/>
                    <a:pt x="1250450" y="357902"/>
                    <a:pt x="1230885" y="357902"/>
                  </a:cubicBezTo>
                  <a:lnTo>
                    <a:pt x="35425" y="357902"/>
                  </a:lnTo>
                  <a:cubicBezTo>
                    <a:pt x="26029" y="357902"/>
                    <a:pt x="17019" y="354170"/>
                    <a:pt x="10376" y="347527"/>
                  </a:cubicBezTo>
                  <a:cubicBezTo>
                    <a:pt x="3732" y="340883"/>
                    <a:pt x="0" y="331873"/>
                    <a:pt x="0" y="322478"/>
                  </a:cubicBezTo>
                  <a:lnTo>
                    <a:pt x="0" y="35425"/>
                  </a:lnTo>
                  <a:cubicBezTo>
                    <a:pt x="0" y="26029"/>
                    <a:pt x="3732" y="17019"/>
                    <a:pt x="10376" y="10376"/>
                  </a:cubicBezTo>
                  <a:cubicBezTo>
                    <a:pt x="17019" y="3732"/>
                    <a:pt x="26029" y="0"/>
                    <a:pt x="35425" y="0"/>
                  </a:cubicBezTo>
                  <a:close/>
                </a:path>
              </a:pathLst>
            </a:custGeom>
            <a:solidFill>
              <a:srgbClr val="3A6B95"/>
            </a:solidFill>
          </p:spPr>
        </p:sp>
        <p:sp>
          <p:nvSpPr>
            <p:cNvPr name="TextBox 8" id="8"/>
            <p:cNvSpPr txBox="true"/>
            <p:nvPr/>
          </p:nvSpPr>
          <p:spPr>
            <a:xfrm>
              <a:off x="0" y="-47625"/>
              <a:ext cx="1266310" cy="405527"/>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6868646" y="1728823"/>
            <a:ext cx="4830335" cy="1308745"/>
            <a:chOff x="0" y="0"/>
            <a:chExt cx="1272187" cy="344690"/>
          </a:xfrm>
        </p:grpSpPr>
        <p:sp>
          <p:nvSpPr>
            <p:cNvPr name="Freeform 10" id="10"/>
            <p:cNvSpPr/>
            <p:nvPr/>
          </p:nvSpPr>
          <p:spPr>
            <a:xfrm flipH="false" flipV="false" rot="0">
              <a:off x="0" y="0"/>
              <a:ext cx="1272187" cy="344690"/>
            </a:xfrm>
            <a:custGeom>
              <a:avLst/>
              <a:gdLst/>
              <a:ahLst/>
              <a:cxnLst/>
              <a:rect r="r" b="b" t="t" l="l"/>
              <a:pathLst>
                <a:path h="344690" w="1272187">
                  <a:moveTo>
                    <a:pt x="35261" y="0"/>
                  </a:moveTo>
                  <a:lnTo>
                    <a:pt x="1236926" y="0"/>
                  </a:lnTo>
                  <a:cubicBezTo>
                    <a:pt x="1256400" y="0"/>
                    <a:pt x="1272187" y="15787"/>
                    <a:pt x="1272187" y="35261"/>
                  </a:cubicBezTo>
                  <a:lnTo>
                    <a:pt x="1272187" y="309429"/>
                  </a:lnTo>
                  <a:cubicBezTo>
                    <a:pt x="1272187" y="328903"/>
                    <a:pt x="1256400" y="344690"/>
                    <a:pt x="1236926" y="344690"/>
                  </a:cubicBezTo>
                  <a:lnTo>
                    <a:pt x="35261" y="344690"/>
                  </a:lnTo>
                  <a:cubicBezTo>
                    <a:pt x="25909" y="344690"/>
                    <a:pt x="16940" y="340975"/>
                    <a:pt x="10328" y="334362"/>
                  </a:cubicBezTo>
                  <a:cubicBezTo>
                    <a:pt x="3715" y="327750"/>
                    <a:pt x="0" y="318781"/>
                    <a:pt x="0" y="309429"/>
                  </a:cubicBezTo>
                  <a:lnTo>
                    <a:pt x="0" y="35261"/>
                  </a:lnTo>
                  <a:cubicBezTo>
                    <a:pt x="0" y="15787"/>
                    <a:pt x="15787" y="0"/>
                    <a:pt x="35261" y="0"/>
                  </a:cubicBezTo>
                  <a:close/>
                </a:path>
              </a:pathLst>
            </a:custGeom>
            <a:solidFill>
              <a:srgbClr val="3A6B95"/>
            </a:solidFill>
          </p:spPr>
        </p:sp>
        <p:sp>
          <p:nvSpPr>
            <p:cNvPr name="TextBox 11" id="11"/>
            <p:cNvSpPr txBox="true"/>
            <p:nvPr/>
          </p:nvSpPr>
          <p:spPr>
            <a:xfrm>
              <a:off x="0" y="-47625"/>
              <a:ext cx="1272187" cy="392315"/>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0">
            <a:off x="-640337" y="-1218468"/>
            <a:ext cx="18928337" cy="2045359"/>
            <a:chOff x="0" y="0"/>
            <a:chExt cx="4985241" cy="538695"/>
          </a:xfrm>
        </p:grpSpPr>
        <p:sp>
          <p:nvSpPr>
            <p:cNvPr name="Freeform 13" id="13"/>
            <p:cNvSpPr/>
            <p:nvPr/>
          </p:nvSpPr>
          <p:spPr>
            <a:xfrm flipH="false" flipV="false" rot="0">
              <a:off x="0" y="0"/>
              <a:ext cx="4985241" cy="538695"/>
            </a:xfrm>
            <a:custGeom>
              <a:avLst/>
              <a:gdLst/>
              <a:ahLst/>
              <a:cxnLst/>
              <a:rect r="r" b="b" t="t" l="l"/>
              <a:pathLst>
                <a:path h="538695" w="4985241">
                  <a:moveTo>
                    <a:pt x="12270" y="0"/>
                  </a:moveTo>
                  <a:lnTo>
                    <a:pt x="4972971" y="0"/>
                  </a:lnTo>
                  <a:cubicBezTo>
                    <a:pt x="4979748" y="0"/>
                    <a:pt x="4985241" y="5494"/>
                    <a:pt x="4985241" y="12270"/>
                  </a:cubicBezTo>
                  <a:lnTo>
                    <a:pt x="4985241" y="526425"/>
                  </a:lnTo>
                  <a:cubicBezTo>
                    <a:pt x="4985241" y="533202"/>
                    <a:pt x="4979748" y="538695"/>
                    <a:pt x="4972971" y="538695"/>
                  </a:cubicBezTo>
                  <a:lnTo>
                    <a:pt x="12270" y="538695"/>
                  </a:lnTo>
                  <a:cubicBezTo>
                    <a:pt x="5494" y="538695"/>
                    <a:pt x="0" y="533202"/>
                    <a:pt x="0" y="526425"/>
                  </a:cubicBezTo>
                  <a:lnTo>
                    <a:pt x="0" y="12270"/>
                  </a:lnTo>
                  <a:cubicBezTo>
                    <a:pt x="0" y="5494"/>
                    <a:pt x="5494" y="0"/>
                    <a:pt x="12270" y="0"/>
                  </a:cubicBezTo>
                  <a:close/>
                </a:path>
              </a:pathLst>
            </a:custGeom>
            <a:solidFill>
              <a:srgbClr val="101D56"/>
            </a:solidFill>
          </p:spPr>
        </p:sp>
        <p:sp>
          <p:nvSpPr>
            <p:cNvPr name="TextBox 14" id="14"/>
            <p:cNvSpPr txBox="true"/>
            <p:nvPr/>
          </p:nvSpPr>
          <p:spPr>
            <a:xfrm>
              <a:off x="0" y="-47625"/>
              <a:ext cx="4985241" cy="586320"/>
            </a:xfrm>
            <a:prstGeom prst="rect">
              <a:avLst/>
            </a:prstGeom>
          </p:spPr>
          <p:txBody>
            <a:bodyPr anchor="ctr" rtlCol="false" tIns="50800" lIns="50800" bIns="50800" rIns="50800"/>
            <a:lstStyle/>
            <a:p>
              <a:pPr algn="ctr">
                <a:lnSpc>
                  <a:spcPts val="3499"/>
                </a:lnSpc>
              </a:pPr>
            </a:p>
          </p:txBody>
        </p:sp>
      </p:grpSp>
      <p:sp>
        <p:nvSpPr>
          <p:cNvPr name="Freeform 15" id="15"/>
          <p:cNvSpPr/>
          <p:nvPr/>
        </p:nvSpPr>
        <p:spPr>
          <a:xfrm flipH="false" flipV="false" rot="0">
            <a:off x="16554283" y="8460857"/>
            <a:ext cx="1733717" cy="1733717"/>
          </a:xfrm>
          <a:custGeom>
            <a:avLst/>
            <a:gdLst/>
            <a:ahLst/>
            <a:cxnLst/>
            <a:rect r="r" b="b" t="t" l="l"/>
            <a:pathLst>
              <a:path h="1733717" w="1733717">
                <a:moveTo>
                  <a:pt x="0" y="0"/>
                </a:moveTo>
                <a:lnTo>
                  <a:pt x="1733717" y="0"/>
                </a:lnTo>
                <a:lnTo>
                  <a:pt x="1733717" y="1733716"/>
                </a:lnTo>
                <a:lnTo>
                  <a:pt x="0" y="1733716"/>
                </a:lnTo>
                <a:lnTo>
                  <a:pt x="0"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true" flipV="false" rot="0">
            <a:off x="0" y="8460857"/>
            <a:ext cx="1733717" cy="1733717"/>
          </a:xfrm>
          <a:custGeom>
            <a:avLst/>
            <a:gdLst/>
            <a:ahLst/>
            <a:cxnLst/>
            <a:rect r="r" b="b" t="t" l="l"/>
            <a:pathLst>
              <a:path h="1733717" w="1733717">
                <a:moveTo>
                  <a:pt x="1733717" y="0"/>
                </a:moveTo>
                <a:lnTo>
                  <a:pt x="0" y="0"/>
                </a:lnTo>
                <a:lnTo>
                  <a:pt x="0" y="1733716"/>
                </a:lnTo>
                <a:lnTo>
                  <a:pt x="1733717" y="1733716"/>
                </a:lnTo>
                <a:lnTo>
                  <a:pt x="1733717" y="0"/>
                </a:lnTo>
                <a:close/>
              </a:path>
            </a:pathLst>
          </a:custGeom>
          <a:blipFill>
            <a:blip r:embed="rId3">
              <a:alphaModFix amt="25000"/>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2679728" y="1350766"/>
            <a:ext cx="5608272" cy="6502345"/>
          </a:xfrm>
          <a:custGeom>
            <a:avLst/>
            <a:gdLst/>
            <a:ahLst/>
            <a:cxnLst/>
            <a:rect r="r" b="b" t="t" l="l"/>
            <a:pathLst>
              <a:path h="6502345" w="5608272">
                <a:moveTo>
                  <a:pt x="0" y="0"/>
                </a:moveTo>
                <a:lnTo>
                  <a:pt x="5608272" y="0"/>
                </a:lnTo>
                <a:lnTo>
                  <a:pt x="5608272" y="6502345"/>
                </a:lnTo>
                <a:lnTo>
                  <a:pt x="0" y="6502345"/>
                </a:lnTo>
                <a:lnTo>
                  <a:pt x="0" y="0"/>
                </a:lnTo>
                <a:close/>
              </a:path>
            </a:pathLst>
          </a:custGeom>
          <a:blipFill>
            <a:blip r:embed="rId5"/>
            <a:stretch>
              <a:fillRect l="0" t="0" r="0" b="0"/>
            </a:stretch>
          </a:blipFill>
        </p:spPr>
      </p:sp>
      <p:sp>
        <p:nvSpPr>
          <p:cNvPr name="TextBox 18" id="18"/>
          <p:cNvSpPr txBox="true"/>
          <p:nvPr/>
        </p:nvSpPr>
        <p:spPr>
          <a:xfrm rot="0">
            <a:off x="397744" y="1298707"/>
            <a:ext cx="5063345" cy="1410970"/>
          </a:xfrm>
          <a:prstGeom prst="rect">
            <a:avLst/>
          </a:prstGeom>
        </p:spPr>
        <p:txBody>
          <a:bodyPr anchor="t" rtlCol="false" tIns="0" lIns="0" bIns="0" rIns="0">
            <a:spAutoFit/>
          </a:bodyPr>
          <a:lstStyle/>
          <a:p>
            <a:pPr algn="ctr">
              <a:lnSpc>
                <a:spcPts val="5179"/>
              </a:lnSpc>
            </a:pPr>
            <a:r>
              <a:rPr lang="en-US" b="true" sz="3699">
                <a:solidFill>
                  <a:srgbClr val="FFFFFF"/>
                </a:solidFill>
                <a:latin typeface="Helvetica World Bold"/>
                <a:ea typeface="Helvetica World Bold"/>
                <a:cs typeface="Helvetica World Bold"/>
                <a:sym typeface="Helvetica World Bold"/>
              </a:rPr>
              <a:t>D. TEKNIK KEABSAHAN DATA</a:t>
            </a:r>
          </a:p>
        </p:txBody>
      </p:sp>
      <p:sp>
        <p:nvSpPr>
          <p:cNvPr name="TextBox 19" id="19"/>
          <p:cNvSpPr txBox="true"/>
          <p:nvPr/>
        </p:nvSpPr>
        <p:spPr>
          <a:xfrm rot="0">
            <a:off x="7753933" y="5096135"/>
            <a:ext cx="2780134" cy="1294030"/>
          </a:xfrm>
          <a:prstGeom prst="rect">
            <a:avLst/>
          </a:prstGeom>
        </p:spPr>
        <p:txBody>
          <a:bodyPr anchor="t" rtlCol="false" tIns="0" lIns="0" bIns="0" rIns="0">
            <a:spAutoFit/>
          </a:bodyPr>
          <a:lstStyle/>
          <a:p>
            <a:pPr algn="ctr">
              <a:lnSpc>
                <a:spcPts val="3220"/>
              </a:lnSpc>
            </a:pPr>
            <a:r>
              <a:rPr lang="en-US" b="true" sz="2300">
                <a:solidFill>
                  <a:srgbClr val="FFFFFF"/>
                </a:solidFill>
                <a:latin typeface="Helvetica World Bold"/>
                <a:ea typeface="Helvetica World Bold"/>
                <a:cs typeface="Helvetica World Bold"/>
                <a:sym typeface="Helvetica World Bold"/>
              </a:rPr>
              <a:t>EXCELLENCE IN INNOVATION AWARD 2022.</a:t>
            </a:r>
          </a:p>
        </p:txBody>
      </p:sp>
      <p:sp>
        <p:nvSpPr>
          <p:cNvPr name="TextBox 20" id="20"/>
          <p:cNvSpPr txBox="true"/>
          <p:nvPr/>
        </p:nvSpPr>
        <p:spPr>
          <a:xfrm rot="0">
            <a:off x="718906" y="3191228"/>
            <a:ext cx="4742182" cy="1526540"/>
          </a:xfrm>
          <a:prstGeom prst="rect">
            <a:avLst/>
          </a:prstGeom>
        </p:spPr>
        <p:txBody>
          <a:bodyPr anchor="t" rtlCol="false" tIns="0" lIns="0" bIns="0" rIns="0">
            <a:spAutoFit/>
          </a:bodyPr>
          <a:lstStyle/>
          <a:p>
            <a:pPr algn="l" marL="626111" indent="-313055" lvl="1">
              <a:lnSpc>
                <a:spcPts val="4060"/>
              </a:lnSpc>
              <a:buAutoNum type="arabicPeriod" startAt="1"/>
            </a:pPr>
            <a:r>
              <a:rPr lang="en-US" sz="2900">
                <a:solidFill>
                  <a:srgbClr val="000000"/>
                </a:solidFill>
                <a:latin typeface="Archivo Black"/>
                <a:ea typeface="Archivo Black"/>
                <a:cs typeface="Archivo Black"/>
                <a:sym typeface="Archivo Black"/>
              </a:rPr>
              <a:t>Triangulasi Sumber</a:t>
            </a:r>
          </a:p>
          <a:p>
            <a:pPr algn="l" marL="626111" indent="-313055" lvl="1">
              <a:lnSpc>
                <a:spcPts val="4060"/>
              </a:lnSpc>
              <a:buAutoNum type="arabicPeriod" startAt="1"/>
            </a:pPr>
            <a:r>
              <a:rPr lang="en-US" sz="2900">
                <a:solidFill>
                  <a:srgbClr val="000000"/>
                </a:solidFill>
                <a:latin typeface="Archivo Black"/>
                <a:ea typeface="Archivo Black"/>
                <a:cs typeface="Archivo Black"/>
                <a:sym typeface="Archivo Black"/>
              </a:rPr>
              <a:t>Triangulasi Teknik</a:t>
            </a:r>
          </a:p>
          <a:p>
            <a:pPr algn="l" marL="626111" indent="-313055" lvl="1">
              <a:lnSpc>
                <a:spcPts val="4060"/>
              </a:lnSpc>
              <a:buAutoNum type="arabicPeriod" startAt="1"/>
            </a:pPr>
            <a:r>
              <a:rPr lang="en-US" sz="2900">
                <a:solidFill>
                  <a:srgbClr val="000000"/>
                </a:solidFill>
                <a:latin typeface="Archivo Black"/>
                <a:ea typeface="Archivo Black"/>
                <a:cs typeface="Archivo Black"/>
                <a:sym typeface="Archivo Black"/>
              </a:rPr>
              <a:t>Triangulasi Waktu</a:t>
            </a:r>
          </a:p>
        </p:txBody>
      </p:sp>
      <p:sp>
        <p:nvSpPr>
          <p:cNvPr name="TextBox 21" id="21"/>
          <p:cNvSpPr txBox="true"/>
          <p:nvPr/>
        </p:nvSpPr>
        <p:spPr>
          <a:xfrm rot="0">
            <a:off x="7057080" y="1643098"/>
            <a:ext cx="4453466" cy="1437005"/>
          </a:xfrm>
          <a:prstGeom prst="rect">
            <a:avLst/>
          </a:prstGeom>
        </p:spPr>
        <p:txBody>
          <a:bodyPr anchor="t" rtlCol="false" tIns="0" lIns="0" bIns="0" rIns="0">
            <a:spAutoFit/>
          </a:bodyPr>
          <a:lstStyle/>
          <a:p>
            <a:pPr algn="ctr">
              <a:lnSpc>
                <a:spcPts val="5320"/>
              </a:lnSpc>
            </a:pPr>
            <a:r>
              <a:rPr lang="en-US" b="true" sz="3800">
                <a:solidFill>
                  <a:srgbClr val="FFFFFF"/>
                </a:solidFill>
                <a:latin typeface="Helvetica World Bold"/>
                <a:ea typeface="Helvetica World Bold"/>
                <a:cs typeface="Helvetica World Bold"/>
                <a:sym typeface="Helvetica World Bold"/>
              </a:rPr>
              <a:t>E. TEKNIK ANALISIS DATA</a:t>
            </a:r>
          </a:p>
        </p:txBody>
      </p:sp>
      <p:sp>
        <p:nvSpPr>
          <p:cNvPr name="TextBox 22" id="22"/>
          <p:cNvSpPr txBox="true"/>
          <p:nvPr/>
        </p:nvSpPr>
        <p:spPr>
          <a:xfrm rot="0">
            <a:off x="6299329" y="3436831"/>
            <a:ext cx="5968968" cy="4612640"/>
          </a:xfrm>
          <a:prstGeom prst="rect">
            <a:avLst/>
          </a:prstGeom>
        </p:spPr>
        <p:txBody>
          <a:bodyPr anchor="t" rtlCol="false" tIns="0" lIns="0" bIns="0" rIns="0">
            <a:spAutoFit/>
          </a:bodyPr>
          <a:lstStyle/>
          <a:p>
            <a:pPr algn="just" marL="626111" indent="-313055" lvl="1">
              <a:lnSpc>
                <a:spcPts val="4060"/>
              </a:lnSpc>
              <a:buFont typeface="Arial"/>
              <a:buChar char="•"/>
            </a:pPr>
            <a:r>
              <a:rPr lang="en-US" sz="2900">
                <a:solidFill>
                  <a:srgbClr val="000000"/>
                </a:solidFill>
                <a:latin typeface="Archivo Black"/>
                <a:ea typeface="Archivo Black"/>
                <a:cs typeface="Archivo Black"/>
                <a:sym typeface="Archivo Black"/>
              </a:rPr>
              <a:t>Reduksi Data</a:t>
            </a:r>
          </a:p>
          <a:p>
            <a:pPr algn="just">
              <a:lnSpc>
                <a:spcPts val="4060"/>
              </a:lnSpc>
            </a:pPr>
            <a:r>
              <a:rPr lang="en-US" sz="2900">
                <a:solidFill>
                  <a:srgbClr val="000000"/>
                </a:solidFill>
                <a:latin typeface="Archivo Black"/>
                <a:ea typeface="Archivo Black"/>
                <a:cs typeface="Archivo Black"/>
                <a:sym typeface="Archivo Black"/>
              </a:rPr>
              <a:t>Dilakukan untuk menelaah secara menyeluruh data yang dikumpulkan dari lapangan</a:t>
            </a:r>
          </a:p>
          <a:p>
            <a:pPr algn="just" marL="626111" indent="-313055" lvl="1">
              <a:lnSpc>
                <a:spcPts val="4060"/>
              </a:lnSpc>
              <a:buFont typeface="Arial"/>
              <a:buChar char="•"/>
            </a:pPr>
            <a:r>
              <a:rPr lang="en-US" sz="2900">
                <a:solidFill>
                  <a:srgbClr val="000000"/>
                </a:solidFill>
                <a:latin typeface="Archivo Black"/>
                <a:ea typeface="Archivo Black"/>
                <a:cs typeface="Archivo Black"/>
                <a:sym typeface="Archivo Black"/>
              </a:rPr>
              <a:t>Penyajian Data</a:t>
            </a:r>
          </a:p>
          <a:p>
            <a:pPr algn="just">
              <a:lnSpc>
                <a:spcPts val="4060"/>
              </a:lnSpc>
            </a:pPr>
            <a:r>
              <a:rPr lang="en-US" sz="2900">
                <a:solidFill>
                  <a:srgbClr val="000000"/>
                </a:solidFill>
                <a:latin typeface="Archivo Black"/>
                <a:ea typeface="Archivo Black"/>
                <a:cs typeface="Archivo Black"/>
                <a:sym typeface="Archivo Black"/>
              </a:rPr>
              <a:t>berdasarkan informan yang di peloreh yang di sajikan dalam bentuk naratif</a:t>
            </a:r>
          </a:p>
          <a:p>
            <a:pPr algn="just">
              <a:lnSpc>
                <a:spcPts val="4060"/>
              </a:lnSpc>
            </a:pPr>
            <a:r>
              <a:rPr lang="en-US" sz="2900">
                <a:solidFill>
                  <a:srgbClr val="000000"/>
                </a:solidFill>
                <a:latin typeface="Archivo Black"/>
                <a:ea typeface="Archivo Black"/>
                <a:cs typeface="Archivo Black"/>
                <a:sym typeface="Archivo Black"/>
              </a:rPr>
              <a:t>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12888" t="0" r="-12888" b="0"/>
            </a:stretch>
          </a:blipFill>
        </p:spPr>
      </p:sp>
      <p:grpSp>
        <p:nvGrpSpPr>
          <p:cNvPr name="Group 3" id="3"/>
          <p:cNvGrpSpPr/>
          <p:nvPr/>
        </p:nvGrpSpPr>
        <p:grpSpPr>
          <a:xfrm rot="0">
            <a:off x="4610100" y="0"/>
            <a:ext cx="13677900" cy="9785848"/>
            <a:chOff x="0" y="0"/>
            <a:chExt cx="3602410" cy="2577343"/>
          </a:xfrm>
        </p:grpSpPr>
        <p:sp>
          <p:nvSpPr>
            <p:cNvPr name="Freeform 4" id="4"/>
            <p:cNvSpPr/>
            <p:nvPr/>
          </p:nvSpPr>
          <p:spPr>
            <a:xfrm flipH="false" flipV="false" rot="0">
              <a:off x="0" y="0"/>
              <a:ext cx="3602410" cy="2577343"/>
            </a:xfrm>
            <a:custGeom>
              <a:avLst/>
              <a:gdLst/>
              <a:ahLst/>
              <a:cxnLst/>
              <a:rect r="r" b="b" t="t" l="l"/>
              <a:pathLst>
                <a:path h="2577343" w="3602410">
                  <a:moveTo>
                    <a:pt x="0" y="0"/>
                  </a:moveTo>
                  <a:lnTo>
                    <a:pt x="3602410" y="0"/>
                  </a:lnTo>
                  <a:lnTo>
                    <a:pt x="3602410" y="2577343"/>
                  </a:lnTo>
                  <a:lnTo>
                    <a:pt x="0" y="2577343"/>
                  </a:lnTo>
                  <a:close/>
                </a:path>
              </a:pathLst>
            </a:custGeom>
            <a:solidFill>
              <a:srgbClr val="023059"/>
            </a:solidFill>
          </p:spPr>
        </p:sp>
        <p:sp>
          <p:nvSpPr>
            <p:cNvPr name="TextBox 5" id="5"/>
            <p:cNvSpPr txBox="true"/>
            <p:nvPr/>
          </p:nvSpPr>
          <p:spPr>
            <a:xfrm>
              <a:off x="0" y="-95250"/>
              <a:ext cx="3602410" cy="2672593"/>
            </a:xfrm>
            <a:prstGeom prst="rect">
              <a:avLst/>
            </a:prstGeom>
          </p:spPr>
          <p:txBody>
            <a:bodyPr anchor="ctr" rtlCol="false" tIns="50800" lIns="50800" bIns="50800" rIns="50800"/>
            <a:lstStyle/>
            <a:p>
              <a:pPr algn="ctr">
                <a:lnSpc>
                  <a:spcPts val="3927"/>
                </a:lnSpc>
              </a:pPr>
            </a:p>
          </p:txBody>
        </p:sp>
      </p:grpSp>
      <p:sp>
        <p:nvSpPr>
          <p:cNvPr name="Freeform 6" id="6"/>
          <p:cNvSpPr/>
          <p:nvPr/>
        </p:nvSpPr>
        <p:spPr>
          <a:xfrm flipH="true" flipV="true" rot="-5400000">
            <a:off x="-5968007" y="3945931"/>
            <a:ext cx="10287000" cy="2395139"/>
          </a:xfrm>
          <a:custGeom>
            <a:avLst/>
            <a:gdLst/>
            <a:ahLst/>
            <a:cxnLst/>
            <a:rect r="r" b="b" t="t" l="l"/>
            <a:pathLst>
              <a:path h="2395139" w="10287000">
                <a:moveTo>
                  <a:pt x="10287000" y="2395138"/>
                </a:moveTo>
                <a:lnTo>
                  <a:pt x="0" y="2395138"/>
                </a:lnTo>
                <a:lnTo>
                  <a:pt x="0" y="0"/>
                </a:lnTo>
                <a:lnTo>
                  <a:pt x="10287000" y="0"/>
                </a:lnTo>
                <a:lnTo>
                  <a:pt x="10287000" y="2395138"/>
                </a:lnTo>
                <a:close/>
              </a:path>
            </a:pathLst>
          </a:custGeom>
          <a:blipFill>
            <a:blip r:embed="rId3">
              <a:extLst>
                <a:ext uri="{96DAC541-7B7A-43D3-8B79-37D633B846F1}">
                  <asvg:svgBlip xmlns:asvg="http://schemas.microsoft.com/office/drawing/2016/SVG/main" r:embed="rId4"/>
                </a:ext>
              </a:extLst>
            </a:blip>
            <a:stretch>
              <a:fillRect l="-1026" t="-57958" r="0" b="-958"/>
            </a:stretch>
          </a:blipFill>
        </p:spPr>
      </p:sp>
      <p:sp>
        <p:nvSpPr>
          <p:cNvPr name="Freeform 7" id="7"/>
          <p:cNvSpPr/>
          <p:nvPr/>
        </p:nvSpPr>
        <p:spPr>
          <a:xfrm flipH="false" flipV="false" rot="0">
            <a:off x="14318691" y="1143625"/>
            <a:ext cx="683395" cy="437373"/>
          </a:xfrm>
          <a:custGeom>
            <a:avLst/>
            <a:gdLst/>
            <a:ahLst/>
            <a:cxnLst/>
            <a:rect r="r" b="b" t="t" l="l"/>
            <a:pathLst>
              <a:path h="437373" w="683395">
                <a:moveTo>
                  <a:pt x="0" y="0"/>
                </a:moveTo>
                <a:lnTo>
                  <a:pt x="683395" y="0"/>
                </a:lnTo>
                <a:lnTo>
                  <a:pt x="683395" y="437373"/>
                </a:lnTo>
                <a:lnTo>
                  <a:pt x="0" y="4373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8116663" y="6755358"/>
            <a:ext cx="951137" cy="444437"/>
          </a:xfrm>
          <a:custGeom>
            <a:avLst/>
            <a:gdLst/>
            <a:ahLst/>
            <a:cxnLst/>
            <a:rect r="r" b="b" t="t" l="l"/>
            <a:pathLst>
              <a:path h="444437" w="951137">
                <a:moveTo>
                  <a:pt x="0" y="0"/>
                </a:moveTo>
                <a:lnTo>
                  <a:pt x="951137" y="0"/>
                </a:lnTo>
                <a:lnTo>
                  <a:pt x="951137" y="444436"/>
                </a:lnTo>
                <a:lnTo>
                  <a:pt x="0" y="444436"/>
                </a:lnTo>
                <a:lnTo>
                  <a:pt x="0" y="0"/>
                </a:lnTo>
                <a:close/>
              </a:path>
            </a:pathLst>
          </a:custGeom>
          <a:blipFill>
            <a:blip r:embed="rId7">
              <a:extLst>
                <a:ext uri="{96DAC541-7B7A-43D3-8B79-37D633B846F1}">
                  <asvg:svgBlip xmlns:asvg="http://schemas.microsoft.com/office/drawing/2016/SVG/main" r:embed="rId8"/>
                </a:ext>
              </a:extLst>
            </a:blip>
            <a:stretch>
              <a:fillRect l="0" t="-78900" r="-112980" b="0"/>
            </a:stretch>
          </a:blipFill>
        </p:spPr>
      </p:sp>
      <p:grpSp>
        <p:nvGrpSpPr>
          <p:cNvPr name="Group 9" id="9"/>
          <p:cNvGrpSpPr/>
          <p:nvPr/>
        </p:nvGrpSpPr>
        <p:grpSpPr>
          <a:xfrm rot="0">
            <a:off x="772241" y="0"/>
            <a:ext cx="6376712" cy="8978527"/>
            <a:chOff x="0" y="0"/>
            <a:chExt cx="1484175" cy="2089745"/>
          </a:xfrm>
        </p:grpSpPr>
        <p:sp>
          <p:nvSpPr>
            <p:cNvPr name="Freeform 10" id="10"/>
            <p:cNvSpPr/>
            <p:nvPr/>
          </p:nvSpPr>
          <p:spPr>
            <a:xfrm flipH="true" flipV="false" rot="0">
              <a:off x="0" y="0"/>
              <a:ext cx="1484175" cy="2089745"/>
            </a:xfrm>
            <a:custGeom>
              <a:avLst/>
              <a:gdLst/>
              <a:ahLst/>
              <a:cxnLst/>
              <a:rect r="r" b="b" t="t" l="l"/>
              <a:pathLst>
                <a:path h="2089745" w="1484175">
                  <a:moveTo>
                    <a:pt x="1484175" y="0"/>
                  </a:moveTo>
                  <a:lnTo>
                    <a:pt x="0" y="0"/>
                  </a:lnTo>
                  <a:lnTo>
                    <a:pt x="0" y="2089745"/>
                  </a:lnTo>
                  <a:lnTo>
                    <a:pt x="1484175" y="2089745"/>
                  </a:lnTo>
                  <a:close/>
                </a:path>
              </a:pathLst>
            </a:custGeom>
            <a:blipFill>
              <a:blip r:embed="rId9"/>
              <a:stretch>
                <a:fillRect l="-55667" t="0" r="-55667" b="0"/>
              </a:stretch>
            </a:blipFill>
          </p:spPr>
        </p:sp>
      </p:grpSp>
      <p:sp>
        <p:nvSpPr>
          <p:cNvPr name="TextBox 11" id="11"/>
          <p:cNvSpPr txBox="true"/>
          <p:nvPr/>
        </p:nvSpPr>
        <p:spPr>
          <a:xfrm rot="0">
            <a:off x="7411614" y="3009869"/>
            <a:ext cx="9561936" cy="1495425"/>
          </a:xfrm>
          <a:prstGeom prst="rect">
            <a:avLst/>
          </a:prstGeom>
        </p:spPr>
        <p:txBody>
          <a:bodyPr anchor="t" rtlCol="false" tIns="0" lIns="0" bIns="0" rIns="0">
            <a:spAutoFit/>
          </a:bodyPr>
          <a:lstStyle/>
          <a:p>
            <a:pPr algn="r">
              <a:lnSpc>
                <a:spcPts val="11880"/>
              </a:lnSpc>
            </a:pPr>
            <a:r>
              <a:rPr lang="en-US" sz="9900">
                <a:solidFill>
                  <a:srgbClr val="FFFFFF"/>
                </a:solidFill>
                <a:latin typeface="League Spartan"/>
                <a:ea typeface="League Spartan"/>
                <a:cs typeface="League Spartan"/>
                <a:sym typeface="League Spartan"/>
              </a:rPr>
              <a:t>TERIMAKASIH</a:t>
            </a:r>
          </a:p>
        </p:txBody>
      </p:sp>
      <p:sp>
        <p:nvSpPr>
          <p:cNvPr name="TextBox 12" id="12"/>
          <p:cNvSpPr txBox="true"/>
          <p:nvPr/>
        </p:nvSpPr>
        <p:spPr>
          <a:xfrm rot="0">
            <a:off x="10674350" y="5787839"/>
            <a:ext cx="6299200" cy="477921"/>
          </a:xfrm>
          <a:prstGeom prst="rect">
            <a:avLst/>
          </a:prstGeom>
        </p:spPr>
        <p:txBody>
          <a:bodyPr anchor="t" rtlCol="false" tIns="0" lIns="0" bIns="0" rIns="0">
            <a:spAutoFit/>
          </a:bodyPr>
          <a:lstStyle/>
          <a:p>
            <a:pPr algn="r">
              <a:lnSpc>
                <a:spcPts val="3927"/>
              </a:lnSpc>
            </a:pPr>
            <a:r>
              <a:rPr lang="en-US" sz="2533" i="true">
                <a:solidFill>
                  <a:srgbClr val="FFFFFF"/>
                </a:solidFill>
                <a:latin typeface="Source Sans Pro Italics"/>
                <a:ea typeface="Source Sans Pro Italics"/>
                <a:cs typeface="Source Sans Pro Italics"/>
                <a:sym typeface="Source Sans Pro Italics"/>
              </a:rPr>
              <a:t>Laila Niswah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DAG3KkS8xvM</dc:identifier>
  <dcterms:modified xsi:type="dcterms:W3CDTF">2011-08-01T06:04:30Z</dcterms:modified>
  <cp:revision>1</cp:revision>
  <dc:title>Blue Modern Business Proposal Presentation </dc:title>
</cp:coreProperties>
</file>