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46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11" Type="http://schemas.openxmlformats.org/officeDocument/2006/relationships/image" Target="../media/image20.png"/><Relationship Id="rId10" Type="http://schemas.openxmlformats.org/officeDocument/2006/relationships/image" Target="../media/image7.png"/><Relationship Id="rId12" Type="http://schemas.openxmlformats.org/officeDocument/2006/relationships/image" Target="../media/image18.png"/><Relationship Id="rId9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11" Type="http://schemas.openxmlformats.org/officeDocument/2006/relationships/image" Target="../media/image45.png"/><Relationship Id="rId10" Type="http://schemas.openxmlformats.org/officeDocument/2006/relationships/image" Target="../media/image25.png"/><Relationship Id="rId9" Type="http://schemas.openxmlformats.org/officeDocument/2006/relationships/image" Target="../media/image32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Relationship Id="rId7" Type="http://schemas.openxmlformats.org/officeDocument/2006/relationships/image" Target="../media/image28.png"/><Relationship Id="rId8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41.png"/><Relationship Id="rId5" Type="http://schemas.openxmlformats.org/officeDocument/2006/relationships/image" Target="../media/image23.png"/><Relationship Id="rId6" Type="http://schemas.openxmlformats.org/officeDocument/2006/relationships/image" Target="../media/image44.png"/><Relationship Id="rId7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43.png"/><Relationship Id="rId9" Type="http://schemas.openxmlformats.org/officeDocument/2006/relationships/image" Target="../media/image40.png"/><Relationship Id="rId5" Type="http://schemas.openxmlformats.org/officeDocument/2006/relationships/image" Target="../media/image35.png"/><Relationship Id="rId6" Type="http://schemas.openxmlformats.org/officeDocument/2006/relationships/image" Target="../media/image37.png"/><Relationship Id="rId7" Type="http://schemas.openxmlformats.org/officeDocument/2006/relationships/image" Target="../media/image47.png"/><Relationship Id="rId8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" y="1689794"/>
            <a:ext cx="10915650" cy="347841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875347" y="2175569"/>
            <a:ext cx="1044130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Hukum Lingkungan &amp; AMDAL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23950" y="3166169"/>
            <a:ext cx="99441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Hak, Kewajiban, AMDAL, UKL, dan UPL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23950" y="3848100"/>
            <a:ext cx="9944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Disusun Oleh: Kelompok 3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23950" y="4295775"/>
            <a:ext cx="99441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Rizky Rais | Aldhi Satria N. | Zahfa Maulida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5381625" y="2586930"/>
            <a:ext cx="1428750" cy="571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665696" y="2929830"/>
            <a:ext cx="4860607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Pendahuluan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676525" y="4129980"/>
            <a:ext cx="6838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Latar Belakang &amp; Urgensi Perlindungan Ekosistem Nasional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14512"/>
            <a:ext cx="5286375" cy="435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1451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857250" y="2100262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Perlindungan Fundamental:</a:t>
            </a:r>
            <a:r>
              <a:rPr b="0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Lingkungan yang sehat adalah prasyarat utama bagi terciptanya kesejahteraan sosial dan ekonomi yang berkelanjutan.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7250" y="3157537"/>
            <a:ext cx="47148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Dampak Aktivitas Manusia:</a:t>
            </a:r>
            <a:r>
              <a:rPr b="0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Eksploitasi sumber daya alam yang tidak terkendali menyebabkan degradasi lahan, pencemaran polusi, dan hilangnya keanekaragaman hayati.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57250" y="4519612"/>
            <a:ext cx="47148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Peran Krusial Hukum:</a:t>
            </a:r>
            <a:r>
              <a:rPr b="0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Hukum lingkungan hadir sebagai instrumen pencegahan dan panduan normatif yang membatasi perilaku manusia agar tidak merusak ekosistem sekitarnya.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81451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Mengapa Lingkungan Penting?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1793081"/>
            <a:ext cx="9525000" cy="4395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2266950" y="2174081"/>
            <a:ext cx="82105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Lingkungan Hidup Bersih &amp; Sehat:</a:t>
            </a:r>
            <a:r>
              <a:rPr b="0" i="0" lang="en-US" sz="165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Bagian integral dari hak asasi manusia yang diakui secara konstitusional agar warga hidup dalam kondisi optimal.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2266950" y="3082528"/>
            <a:ext cx="82105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Hak Memperoleh Informasi:</a:t>
            </a:r>
            <a:r>
              <a:rPr b="0" i="0" lang="en-US" sz="165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Akses data yang akurat, terbuka, dan tepat waktu untuk mencegah manipulasi data dari dampak suatu proyek.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2266950" y="3990975"/>
            <a:ext cx="82105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Partisipasi Publik:</a:t>
            </a:r>
            <a:r>
              <a:rPr b="0" i="0" lang="en-US" sz="165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Keterlibatan masyarakat secara aktif dalam proses perencanaan, pelaksanaan, hingga pengawasan kebijakan tata ruang.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2266950" y="4899421"/>
            <a:ext cx="82105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Hak Gugatan Perwakilan:</a:t>
            </a:r>
            <a:r>
              <a:rPr b="0" i="0" lang="en-US" sz="165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Instrumen korektif peradilan apabila terjadi pencemaran, menciptakan mekanisme kontrol sosial yang sangat efektif.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0700" y="218836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90700" y="309681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90700" y="4005262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90700" y="4913709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Hak Masyarakat Atas Lingkungan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6887"/>
            <a:ext cx="3492549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66887"/>
            <a:ext cx="3492549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66887"/>
            <a:ext cx="3492549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41450" y="2119312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1027539" y="3309937"/>
            <a:ext cx="25803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Jaga Kelestarian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28675" y="3890962"/>
            <a:ext cx="29781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Kewajiban utama menjaga fungsi lingkungan hidup dari degradasi. Menghemat air bersih, energi listrik, serta mengelola sampah rumah tangga dengan prinsip daur ulang.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19750" y="2119312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4575810" y="3309937"/>
            <a:ext cx="30403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Cegah Pencemaran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606974" y="3890962"/>
            <a:ext cx="29781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Aktif mencegah terjadinya pencemaran sektoral. Dilarang keras membuang limbah sembarangan ke sungai atau melakukan pembakaran lahan untuk aktivitas komersial apapun.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98049" y="2119312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8864173" y="3309937"/>
            <a:ext cx="202025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Patuh Aturan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385274" y="3890962"/>
            <a:ext cx="29781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Mematuhi seluruh regulasi perundang-undangan. Bagi pelaku usaha komersial, ini mencakup keharusan mutlak memiliki dokumen perizinan lingkungan sebelum operasi.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89100" y="2338387"/>
            <a:ext cx="4572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34062" y="233838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12362" y="2338387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Kewajiban Masyarakat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/>
          <p:nvPr/>
        </p:nvSpPr>
        <p:spPr>
          <a:xfrm>
            <a:off x="5381625" y="2586930"/>
            <a:ext cx="1428750" cy="571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2010489" y="2929830"/>
            <a:ext cx="8171021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Instrumen Lingkungan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4776787" y="4129980"/>
            <a:ext cx="26384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AMDAL, UKL, dan UPL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71500" y="571500"/>
            <a:ext cx="5550693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Esensi AMDAL</a:t>
            </a:r>
            <a:endParaRPr/>
          </a:p>
        </p:txBody>
      </p:sp>
      <p:pic>
        <p:nvPicPr>
          <p:cNvPr descr="image.png" id="165" name="Google Shape;1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71500" y="1790402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Analisis Mengenai Dampak Lingkungan (AMDAL)</a:t>
            </a:r>
            <a:r>
              <a:rPr b="0" i="0" lang="en-US" sz="165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merupakan instrumen penting berupa analisis mendalam mengenai potensi dampak besar dan penting dari suatu rencana proyek terpadu.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3359646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Kajian holistik ini berfungsi layaknya radar pendeteksi dini terhadap berbagai ancaman degradasi lanskap yang tersembunyi. AMDAL bertindak sebagai kompas peta jalan operasional.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4928889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Pemrakarsa proyek wajib mematuhi kriteria baku yang ketat untuk mencegah kelestarian biosfer dari dampak fatalistik industri.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6912"/>
            <a:ext cx="5286375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66912"/>
            <a:ext cx="5286375" cy="40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971550" y="2366962"/>
            <a:ext cx="4710588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4785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Analisis Dampak (KA-ANDAL &amp; ANDAL)</a:t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971550" y="3338512"/>
            <a:ext cx="4486275" cy="19050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971550" y="3500437"/>
            <a:ext cx="44862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KA-ANDAL (Kerangka Acuan):</a:t>
            </a:r>
            <a:r>
              <a:rPr b="0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Membatasi cakupan spektrum dan mengukur kedalaman penggalian studi ekskavasi oleh pakar independen.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971550" y="4557712"/>
            <a:ext cx="44862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ANDAL:</a:t>
            </a:r>
            <a:r>
              <a:rPr b="0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Memamerkan rincian hasil observasi prediktif tentang seberapa dahsyat tingkat kerusakan konfigurasi lahan sebelum proyek dimulai.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734175" y="2366962"/>
            <a:ext cx="47105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4785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Tindakan &amp; Kontrol (RKL &amp; RPL)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6734175" y="2900362"/>
            <a:ext cx="4486275" cy="19050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6734175" y="3062287"/>
            <a:ext cx="44862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RKL (Rencana Pengelolaan):</a:t>
            </a:r>
            <a:r>
              <a:rPr b="0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Prosedur standarisasi operasional rekayasa teknologi pabrikan untuk meredam penyebaran radiasi limbah polutan.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734175" y="4119562"/>
            <a:ext cx="44862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RPL (Rencana Pemantauan):</a:t>
            </a:r>
            <a:r>
              <a:rPr b="0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Pedoman mekanisme pengujian berkala, tata penjadwalan sampel laboratorium, dan variabel kelestarian mutlak.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Komponen Dokumen AMDAL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6334125" y="1835050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Upaya Pengelolaan Lingkungan</a:t>
            </a:r>
            <a:endParaRPr/>
          </a:p>
        </p:txBody>
      </p:sp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16075"/>
            <a:ext cx="5286375" cy="358794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Mengelola Dampak Lokal: UKL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5">
            <a:alphaModFix/>
          </a:blip>
          <a:srcRect b="0" l="0" r="14045" t="0"/>
          <a:stretch/>
        </p:blipFill>
        <p:spPr>
          <a:xfrm>
            <a:off x="515375" y="1991975"/>
            <a:ext cx="5433526" cy="380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14525"/>
            <a:ext cx="3492549" cy="415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14525"/>
            <a:ext cx="3492549" cy="415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14525"/>
            <a:ext cx="3492549" cy="415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2105025"/>
            <a:ext cx="3111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0299" y="2105025"/>
            <a:ext cx="3111549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684211" y="4391025"/>
            <a:ext cx="32671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Kualitas Air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762000" y="4819650"/>
            <a:ext cx="31115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Uji berkala air drainase &amp; sungai untuk pastikan batas toleransi baku mutu air alam terjaga.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4462510" y="4391025"/>
            <a:ext cx="32671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Stabilitas Tanah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4540299" y="4819650"/>
            <a:ext cx="31115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Pemantauan endapan partikel tanah demi hindari akumulasi racun sisa limbah padat di lokasi.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8240810" y="4391025"/>
            <a:ext cx="32671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Kepekatan Udara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8318599" y="4819650"/>
            <a:ext cx="31115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Cek emisi cerobong &amp; debu udara pabrik yang mencegah penyebaran polusi pernapasan publik.</a:t>
            </a:r>
            <a:endParaRPr/>
          </a:p>
        </p:txBody>
      </p:sp>
      <p:pic>
        <p:nvPicPr>
          <p:cNvPr descr="image.png" id="212" name="Google Shape;21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105025"/>
            <a:ext cx="3111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40299" y="2105025"/>
            <a:ext cx="3111549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Praktik Pemantauan Lingkungan (UPL)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2"/>
          <p:cNvPicPr preferRelativeResize="0"/>
          <p:nvPr/>
        </p:nvPicPr>
        <p:blipFill rotWithShape="1">
          <a:blip r:embed="rId11">
            <a:alphaModFix/>
          </a:blip>
          <a:srcRect b="15818" l="0" r="15818" t="0"/>
          <a:stretch/>
        </p:blipFill>
        <p:spPr>
          <a:xfrm>
            <a:off x="8318602" y="2129377"/>
            <a:ext cx="3075793" cy="204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14850"/>
            <a:ext cx="2541240" cy="1927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419" y="2164258"/>
            <a:ext cx="2541240" cy="1683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339" y="4514850"/>
            <a:ext cx="2541240" cy="1683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9259" y="2164258"/>
            <a:ext cx="2541240" cy="168384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/>
          <p:nvPr/>
        </p:nvSpPr>
        <p:spPr>
          <a:xfrm>
            <a:off x="571500" y="4152900"/>
            <a:ext cx="11049000" cy="57150"/>
          </a:xfrm>
          <a:prstGeom prst="roundRect">
            <a:avLst>
              <a:gd fmla="val 50000" name="adj"/>
            </a:avLst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707993" y="4743450"/>
            <a:ext cx="226825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Konstitusi Ekologi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762000" y="5133975"/>
            <a:ext cx="216024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UU No. 32 Tahun 2009. Kewajiban perlindungan &amp; perizinan sebagai pilar utama negara.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3543913" y="2392858"/>
            <a:ext cx="226825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Regulasi Teknis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3597919" y="2783383"/>
            <a:ext cx="216024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PP No. 22 Tahun 2021. Panduan standar baku operasional penanganan limbah terkini.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6379833" y="4743450"/>
            <a:ext cx="226825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Penegakan Ketat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6433839" y="5133975"/>
            <a:ext cx="216024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Pemberian sanksi administratif hingga pidana bagi pelanggaran pengusaha nakal.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9215753" y="2392858"/>
            <a:ext cx="226825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Harmoni Alam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9269759" y="2783383"/>
            <a:ext cx="216024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Terciptanya keseimbangan iklim dan kebangkitan roda bisnis berkelanjutan di masa depan.</a:t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1699245" y="4038600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5715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4535165" y="4038600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5715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7371084" y="4038600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5715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10207004" y="4038600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5715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Evolusi Dasar Hukum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35422"/>
            <a:ext cx="11049000" cy="438715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1115377" y="2016472"/>
            <a:ext cx="996124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Kesimpulan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1352550" y="3349972"/>
            <a:ext cx="94869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Harmonisasi antara pertumbuhan industri &amp; pelestarian sumber daya wajib diwujudkan melalui kepatuhan nyata.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1352550" y="4584352"/>
            <a:ext cx="9486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Mari Jaga Lingkungan Bersama | Kelompok 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/>
          <p:nvPr/>
        </p:nvSpPr>
        <p:spPr>
          <a:xfrm>
            <a:off x="571500" y="1344364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232722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31008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409485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507771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2317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2317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330056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330056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40853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40853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50681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50681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58529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58529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9290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1666875" y="148723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https://img.freepik.com/premium-photo/aerial-view-depicting-stark-contrast-lush-green-forest-deforested-land-highlighting-environmental-changes-land-degradation_997641-28306.jpg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1666875" y="193104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descr="image.png" id="273" name="Google Shape;27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7576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1666875" y="247010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https://media.istockphoto.com/id/1335457270/photo/large-plant-surrounded-by-green-nature-construction-of-the-manufacturing-in-the-countryside.jpg?s=612x612&amp;w=is&amp;k=20&amp;c=l-5oXMqUQjDKOYFVsK89l8MOzPNIIZKpWEOtjbYTVBY=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1666875" y="29139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descr="image.png" id="276" name="Google Shape;27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595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1666875" y="345296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https://www.niehs.nih.gov/sites/default/files/2024/07/srp_phi_cyclopure_graphical-abstract.png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666875" y="36986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www.niehs.nih.gov</a:t>
            </a:r>
            <a:endParaRPr/>
          </a:p>
        </p:txBody>
      </p:sp>
      <p:pic>
        <p:nvPicPr>
          <p:cNvPr descr="image.png" id="279" name="Google Shape;27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434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1666875" y="423773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https://media.gettyimages.com/id/2151002756/photo/female-scientist-collecting-water-from-mountain-river-for-research.jpg?s=612x612&amp;w=gi&amp;k=20&amp;c=mpYXw-ErlFRRO0RrzbU_i0_-d6WOYqblVQ28kxJ8JRs=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1666875" y="468153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www.gettyimages.ae</a:t>
            </a:r>
            <a:endParaRPr/>
          </a:p>
        </p:txBody>
      </p:sp>
      <p:pic>
        <p:nvPicPr>
          <p:cNvPr descr="image.png" id="282" name="Google Shape;28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2271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1666875" y="522059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https://www.environmentalscience.org/wp-content/uploads/2014/08/bigstock-Young-female-researcher-lookin-53060185.jpg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1666875" y="546630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www.environmentalscience.org</a:t>
            </a:r>
            <a:endParaRPr/>
          </a:p>
        </p:txBody>
      </p:sp>
      <p:pic>
        <p:nvPicPr>
          <p:cNvPr descr="image.png" id="285" name="Google Shape;285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60119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1666875" y="600536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https://unccelearn.org/pluginfile.php/1260682/format_unccelearn/background/0/Monitoring%20Air%20Pollution_high.jpg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1666875" y="625107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unccelearn.org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571500" y="220414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4532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89" name="Google Shape;289;p25"/>
          <p:cNvSpPr/>
          <p:nvPr/>
        </p:nvSpPr>
        <p:spPr>
          <a:xfrm>
            <a:off x="571500" y="934789"/>
            <a:ext cx="11049000" cy="285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